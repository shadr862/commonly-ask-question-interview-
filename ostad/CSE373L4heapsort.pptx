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</p:sldIdLst>
  <p:sldSz cx="9144000" cy="6858000"/>
  <p:notesSz cx="6858000" cy="9144000"/>
  <p:embeddedFontLst>
    <p:embeddedFont>
      <p:font typeface="Calibri" panose="020F0502020204030204"/>
      <p:regular r:id="rId88"/>
      <p:bold r:id="rId89"/>
      <p:italic r:id="rId90"/>
      <p:boldItalic r:id="rId91"/>
    </p:embeddedFont>
    <p:embeddedFont>
      <p:font typeface="Impact" panose="020B0806030902050204"/>
      <p:regular r:id="rId92"/>
    </p:embeddedFont>
    <p:embeddedFont>
      <p:font typeface="Comic Sans MS" panose="030F0702030302020204"/>
      <p:regular r:id="rId93"/>
      <p:bold r:id="rId94"/>
      <p:italic r:id="rId95"/>
      <p:boldItalic r:id="rId96"/>
    </p:embeddedFont>
    <p:embeddedFont>
      <p:font typeface="Corsiva" panose="03010101010201010101"/>
      <p:regular r:id="rId9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A663BDC-F3E1-455C-B153-1C1907E4376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Style>
        <a:tcBdr/>
        <a:fill>
          <a:solidFill>
            <a:srgbClr val="D0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0DEEF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9E541435-F421-4622-AACE-3CA97A5BBE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font" Target="fonts/font10.fntdata"/><Relationship Id="rId96" Type="http://schemas.openxmlformats.org/officeDocument/2006/relationships/font" Target="fonts/font9.fntdata"/><Relationship Id="rId95" Type="http://schemas.openxmlformats.org/officeDocument/2006/relationships/font" Target="fonts/font8.fntdata"/><Relationship Id="rId94" Type="http://schemas.openxmlformats.org/officeDocument/2006/relationships/font" Target="fonts/font7.fntdata"/><Relationship Id="rId93" Type="http://schemas.openxmlformats.org/officeDocument/2006/relationships/font" Target="fonts/font6.fntdata"/><Relationship Id="rId92" Type="http://schemas.openxmlformats.org/officeDocument/2006/relationships/font" Target="fonts/font5.fntdata"/><Relationship Id="rId91" Type="http://schemas.openxmlformats.org/officeDocument/2006/relationships/font" Target="fonts/font4.fntdata"/><Relationship Id="rId90" Type="http://schemas.openxmlformats.org/officeDocument/2006/relationships/font" Target="fonts/font3.fntdata"/><Relationship Id="rId9" Type="http://schemas.openxmlformats.org/officeDocument/2006/relationships/slide" Target="slides/slide5.xml"/><Relationship Id="rId89" Type="http://schemas.openxmlformats.org/officeDocument/2006/relationships/font" Target="fonts/font2.fntdata"/><Relationship Id="rId88" Type="http://schemas.openxmlformats.org/officeDocument/2006/relationships/font" Target="fonts/font1.fntdata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4" name="Google Shape;304;p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" name="Google Shape;360;p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4" name="Google Shape;414;p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2" name="Google Shape;442;p1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8" name="Google Shape;448;p1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4" name="Google Shape;474;p1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3" name="Google Shape;503;p1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4" name="Google Shape;534;p1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4" name="Google Shape;564;p1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6" name="Google Shape;596;p1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6" name="Google Shape;626;p1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8" name="Google Shape;658;p1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5" name="Google Shape;685;p1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2" name="Google Shape;692;p2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3" name="Google Shape;703;p2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9" name="Google Shape;709;p2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6" name="Google Shape;716;p2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3" name="Google Shape;723;p2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7" name="Google Shape;757;p2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2" name="Google Shape;792;p2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2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2" name="Google Shape;862;p2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7" name="Google Shape;897;p2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2" name="Google Shape;932;p3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7" name="Google Shape;967;p3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2" name="Google Shape;1002;p3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7" name="Google Shape;1037;p3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3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2" name="Google Shape;1072;p3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3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7" name="Google Shape;1107;p3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3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2" name="Google Shape;1142;p3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3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7" name="Google Shape;1177;p3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3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2" name="Google Shape;1212;p3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3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7" name="Google Shape;1247;p3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4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9" name="Google Shape;1289;p4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5" name="Google Shape;1295;p4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4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9" name="Google Shape;1309;p4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4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6" name="Google Shape;1316;p4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0" name="Google Shape;1350;p4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4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5" name="Google Shape;1385;p4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1" name="Google Shape;1421;p4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4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7" name="Google Shape;1457;p4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4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3" name="Google Shape;1493;p4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4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0" name="Google Shape;1530;p4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5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7" name="Google Shape;1567;p5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5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3" name="Google Shape;1603;p5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5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9" name="Google Shape;1639;p5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5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5" name="Google Shape;1675;p5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5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1" name="Google Shape;1711;p5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5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7" name="Google Shape;1747;p5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5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2" name="Google Shape;1782;p5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5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7" name="Google Shape;1817;p5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5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2" name="Google Shape;1852;p5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5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6" name="Google Shape;1886;p5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6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9" name="Google Shape;1919;p6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6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2" name="Google Shape;1952;p6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6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4" name="Google Shape;1984;p6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6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5" name="Google Shape;2015;p6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6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5" name="Google Shape;2045;p6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6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2" name="Google Shape;2082;p6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6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8" name="Google Shape;2088;p6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6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4" name="Google Shape;2094;p6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6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00" name="Google Shape;2100;p6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1" name="Google Shape;2101;p6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6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08" name="Google Shape;2108;p6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9" name="Google Shape;2109;p6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7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20" name="Google Shape;2120;p7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1" name="Google Shape;2121;p7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7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33" name="Google Shape;2133;p7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4" name="Google Shape;2134;p7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7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91" name="Google Shape;2191;p7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2" name="Google Shape;2192;p7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7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202" name="Google Shape;2202;p7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3" name="Google Shape;2203;p7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7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229" name="Google Shape;2229;p7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0" name="Google Shape;2230;p7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7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313" name="Google Shape;2313;p7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4" name="Google Shape;2314;p7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7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340" name="Google Shape;2340;p7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1" name="Google Shape;2341;p7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7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386" name="Google Shape;2386;p7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7" name="Google Shape;2387;p7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7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474" name="Google Shape;2474;p7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5" name="Google Shape;2475;p7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7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502" name="Google Shape;2502;p7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3" name="Google Shape;2503;p7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8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510" name="Google Shape;2510;p8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1" name="Google Shape;2511;p8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5575" y="29511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Impact" panose="020B0806030902050204"/>
              <a:buNone/>
              <a:defRPr sz="6600" b="0">
                <a:solidFill>
                  <a:schemeClr val="dk1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155574" y="5443538"/>
            <a:ext cx="4352925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4" name="Google Shape;44;p6"/>
          <p:cNvSpPr txBox="1"/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6" name="Google Shape;46;p6"/>
          <p:cNvSpPr txBox="1"/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type="body" idx="1"/>
          </p:nvPr>
        </p:nvSpPr>
        <p:spPr>
          <a:xfrm rot="5400000">
            <a:off x="1935956" y="-840581"/>
            <a:ext cx="5237163" cy="879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matchingName="Title, Text, and Content">
  <p:cSld name="TEXT_AND_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type="body" idx="1"/>
          </p:nvPr>
        </p:nvSpPr>
        <p:spPr>
          <a:xfrm>
            <a:off x="350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type="body" idx="2"/>
          </p:nvPr>
        </p:nvSpPr>
        <p:spPr>
          <a:xfrm>
            <a:off x="4541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12" name="Google Shape;112;p17"/>
          <p:cNvSpPr/>
          <p:nvPr/>
        </p:nvSpPr>
        <p:spPr>
          <a:xfrm>
            <a:off x="327025" y="3671888"/>
            <a:ext cx="8237538" cy="17621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1"/>
              </a:gs>
              <a:gs pos="50000">
                <a:schemeClr val="dk2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 panose="020B0604020202020204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 panose="020B0604020202020204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9pPr>
          </a:lstStyle>
          <a:p/>
        </p:txBody>
      </p:sp>
      <p:sp>
        <p:nvSpPr>
          <p:cNvPr id="116" name="Google Shape;116;p18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type="body" idx="1"/>
          </p:nvPr>
        </p:nvSpPr>
        <p:spPr>
          <a:xfrm>
            <a:off x="350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 panose="020B060402020202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9pPr>
          </a:lstStyle>
          <a:p/>
        </p:txBody>
      </p:sp>
      <p:sp>
        <p:nvSpPr>
          <p:cNvPr id="121" name="Google Shape;121;p19"/>
          <p:cNvSpPr txBox="1"/>
          <p:nvPr>
            <p:ph type="body" idx="2"/>
          </p:nvPr>
        </p:nvSpPr>
        <p:spPr>
          <a:xfrm>
            <a:off x="4541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 panose="020B060402020202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9pPr>
          </a:lstStyle>
          <a:p/>
        </p:txBody>
      </p:sp>
      <p:sp>
        <p:nvSpPr>
          <p:cNvPr id="122" name="Google Shape;122;p19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9pPr>
          </a:lstStyle>
          <a:p/>
        </p:txBody>
      </p:sp>
      <p:sp>
        <p:nvSpPr>
          <p:cNvPr id="127" name="Google Shape;127;p20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9pPr>
          </a:lstStyle>
          <a:p/>
        </p:txBody>
      </p:sp>
      <p:sp>
        <p:nvSpPr>
          <p:cNvPr id="128" name="Google Shape;128;p20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9pPr>
          </a:lstStyle>
          <a:p/>
        </p:txBody>
      </p:sp>
      <p:sp>
        <p:nvSpPr>
          <p:cNvPr id="129" name="Google Shape;129;p20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9pPr>
          </a:lstStyle>
          <a:p/>
        </p:txBody>
      </p:sp>
      <p:sp>
        <p:nvSpPr>
          <p:cNvPr id="130" name="Google Shape;130;p20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 panose="020B0604020202020204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9pPr>
          </a:lstStyle>
          <a:p/>
        </p:txBody>
      </p:sp>
      <p:sp>
        <p:nvSpPr>
          <p:cNvPr id="138" name="Google Shape;138;p22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 panose="020B060402020202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 panose="020B060402020202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9pPr>
          </a:lstStyle>
          <a:p/>
        </p:txBody>
      </p:sp>
      <p:sp>
        <p:nvSpPr>
          <p:cNvPr id="139" name="Google Shape;139;p22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 panose="020B060402020202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 panose="020B060402020202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9pPr>
          </a:lstStyle>
          <a:p/>
        </p:txBody>
      </p:sp>
      <p:sp>
        <p:nvSpPr>
          <p:cNvPr id="145" name="Google Shape;145;p23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type="body" idx="1"/>
          </p:nvPr>
        </p:nvSpPr>
        <p:spPr>
          <a:xfrm rot="5400000">
            <a:off x="1927226" y="-361950"/>
            <a:ext cx="5076825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 rot="5400000">
            <a:off x="4455319" y="2166144"/>
            <a:ext cx="6191250" cy="205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type="body" idx="1"/>
          </p:nvPr>
        </p:nvSpPr>
        <p:spPr>
          <a:xfrm rot="5400000">
            <a:off x="259557" y="181770"/>
            <a:ext cx="6191250" cy="602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matchingName="Title, 2 Content and Text">
  <p:cSld name="TWO_OBJECTS_AND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type="body" idx="1"/>
          </p:nvPr>
        </p:nvSpPr>
        <p:spPr>
          <a:xfrm>
            <a:off x="350838" y="1214438"/>
            <a:ext cx="4038600" cy="246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type="body" idx="2"/>
          </p:nvPr>
        </p:nvSpPr>
        <p:spPr>
          <a:xfrm>
            <a:off x="350838" y="3829050"/>
            <a:ext cx="40386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type="body" idx="3"/>
          </p:nvPr>
        </p:nvSpPr>
        <p:spPr>
          <a:xfrm>
            <a:off x="4541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, Content, and 2 Content">
  <p:cSld name="OBJECT_AND_TWO_OBJECTS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type="body" idx="1"/>
          </p:nvPr>
        </p:nvSpPr>
        <p:spPr>
          <a:xfrm>
            <a:off x="350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type="body" idx="2"/>
          </p:nvPr>
        </p:nvSpPr>
        <p:spPr>
          <a:xfrm>
            <a:off x="4541838" y="1214438"/>
            <a:ext cx="4038600" cy="246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68" name="Google Shape;168;p27"/>
          <p:cNvSpPr txBox="1"/>
          <p:nvPr>
            <p:ph type="body" idx="3"/>
          </p:nvPr>
        </p:nvSpPr>
        <p:spPr>
          <a:xfrm>
            <a:off x="4541838" y="3829050"/>
            <a:ext cx="40386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69" name="Google Shape;169;p27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7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matchingName="Title and Table">
  <p:cSld name="TABLE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8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 and 4 Content">
  <p:cSld name="FOUR_OBJECT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9"/>
          <p:cNvSpPr txBox="1"/>
          <p:nvPr>
            <p:ph type="body" idx="1"/>
          </p:nvPr>
        </p:nvSpPr>
        <p:spPr>
          <a:xfrm>
            <a:off x="350838" y="1214438"/>
            <a:ext cx="4038600" cy="246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78" name="Google Shape;178;p29"/>
          <p:cNvSpPr txBox="1"/>
          <p:nvPr>
            <p:ph type="body" idx="2"/>
          </p:nvPr>
        </p:nvSpPr>
        <p:spPr>
          <a:xfrm>
            <a:off x="4541838" y="1214438"/>
            <a:ext cx="4038600" cy="246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79" name="Google Shape;179;p29"/>
          <p:cNvSpPr txBox="1"/>
          <p:nvPr>
            <p:ph type="body" idx="3"/>
          </p:nvPr>
        </p:nvSpPr>
        <p:spPr>
          <a:xfrm>
            <a:off x="350838" y="3829050"/>
            <a:ext cx="40386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type="body" idx="4"/>
          </p:nvPr>
        </p:nvSpPr>
        <p:spPr>
          <a:xfrm>
            <a:off x="4541838" y="3829050"/>
            <a:ext cx="40386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r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dt" idx="10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ftr" idx="11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sldNum" idx="12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90" name="Google Shape;90;p13"/>
          <p:cNvSpPr/>
          <p:nvPr/>
        </p:nvSpPr>
        <p:spPr>
          <a:xfrm>
            <a:off x="327025" y="989013"/>
            <a:ext cx="8237538" cy="17621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1"/>
              </a:gs>
              <a:gs pos="50000">
                <a:schemeClr val="dk2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ctrTitle"/>
          </p:nvPr>
        </p:nvSpPr>
        <p:spPr>
          <a:xfrm>
            <a:off x="155575" y="29511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Impact" panose="020B0806030902050204"/>
              <a:buNone/>
            </a:pPr>
            <a:r>
              <a:rPr lang="en-US"/>
              <a:t>Lecture 04</a:t>
            </a:r>
            <a:br>
              <a:rPr lang="en-US"/>
            </a:br>
            <a:r>
              <a:rPr lang="en-US" sz="3200"/>
              <a:t>Heap+Heapsort</a:t>
            </a:r>
            <a:endParaRPr sz="8000"/>
          </a:p>
        </p:txBody>
      </p:sp>
      <p:sp>
        <p:nvSpPr>
          <p:cNvPr id="189" name="Google Shape;189;p30"/>
          <p:cNvSpPr txBox="1"/>
          <p:nvPr>
            <p:ph type="subTitle" idx="1"/>
          </p:nvPr>
        </p:nvSpPr>
        <p:spPr>
          <a:xfrm>
            <a:off x="155574" y="5443538"/>
            <a:ext cx="5008609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"/>
              <a:buNone/>
            </a:pPr>
            <a:r>
              <a:rPr lang="en-US" sz="1860"/>
              <a:t>CSE373: Design and Analysis of Algorithms</a:t>
            </a:r>
            <a:endParaRPr lang="en-US" sz="18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Sorting Revisited</a:t>
            </a:r>
            <a:endParaRPr lang="en-US" sz="3960"/>
          </a:p>
        </p:txBody>
      </p:sp>
      <p:sp>
        <p:nvSpPr>
          <p:cNvPr id="195" name="Google Shape;195;p31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 far we’ve talked about two algorithms to sort an array of numbers</a:t>
            </a:r>
            <a:endParaRPr lang="en-US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What is the advantage of merge sort?</a:t>
            </a:r>
            <a:endParaRPr lang="en-US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Answer: O(n lg n) worst-case running time</a:t>
            </a:r>
            <a:endParaRPr lang="en-US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What is the advantage of insertion sort?</a:t>
            </a:r>
            <a:endParaRPr lang="en-US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Answer: sorts in place (in-place sorting means sorting without extra space requirement)</a:t>
            </a:r>
            <a:endParaRPr lang="en-US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Also: When array “nearly sorted”, runs fast in practice</a:t>
            </a:r>
            <a:endParaRPr lang="en-US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Next on the agenda: </a:t>
            </a:r>
            <a:r>
              <a:rPr lang="en-US" i="1">
                <a:solidFill>
                  <a:schemeClr val="dk2"/>
                </a:solidFill>
              </a:rPr>
              <a:t>Heapsort</a:t>
            </a:r>
            <a:endParaRPr i="1">
              <a:solidFill>
                <a:schemeClr val="dk2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Combines advantages of both previous algorithms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body" idx="1"/>
          </p:nvPr>
        </p:nvSpPr>
        <p:spPr>
          <a:xfrm>
            <a:off x="353192" y="990600"/>
            <a:ext cx="8592396" cy="17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 complete binary tree</a:t>
            </a:r>
            <a:endParaRPr lang="en-US"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Each of the elements contains a value that is less than or equal to the value of each of its children (Min-heap)</a:t>
            </a:r>
            <a:endParaRPr lang="en-US"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Each of the elements contains a value that is greater than or equal to the value of each of its children (Max-heap)</a:t>
            </a:r>
            <a:endParaRPr sz="2000"/>
          </a:p>
        </p:txBody>
      </p:sp>
      <p:sp>
        <p:nvSpPr>
          <p:cNvPr id="201" name="Google Shape;201;p32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Heaps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body" idx="1"/>
          </p:nvPr>
        </p:nvSpPr>
        <p:spPr>
          <a:xfrm>
            <a:off x="353192" y="990600"/>
            <a:ext cx="8592396" cy="17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 complete binary tree</a:t>
            </a:r>
            <a:endParaRPr lang="en-US"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Each of the elements contains a value that is less than or equal to the value of each of its children (Min-heap)</a:t>
            </a:r>
            <a:endParaRPr lang="en-US"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Each of the elements contains a value that is greater than or equal to the value of each of its children (Max-heap)</a:t>
            </a:r>
            <a:endParaRPr sz="2000"/>
          </a:p>
        </p:txBody>
      </p:sp>
      <p:grpSp>
        <p:nvGrpSpPr>
          <p:cNvPr id="207" name="Google Shape;207;p33"/>
          <p:cNvGrpSpPr/>
          <p:nvPr/>
        </p:nvGrpSpPr>
        <p:grpSpPr>
          <a:xfrm>
            <a:off x="4899434" y="3019782"/>
            <a:ext cx="3925160" cy="2535059"/>
            <a:chOff x="353191" y="2900862"/>
            <a:chExt cx="3925160" cy="2535059"/>
          </a:xfrm>
        </p:grpSpPr>
        <p:sp>
          <p:nvSpPr>
            <p:cNvPr id="208" name="Google Shape;208;p33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09" name="Google Shape;209;p33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10" name="Google Shape;210;p33"/>
            <p:cNvCxnSpPr>
              <a:stCxn id="208" idx="3"/>
              <a:endCxn id="209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11" name="Google Shape;211;p33"/>
            <p:cNvCxnSpPr>
              <a:stCxn id="208" idx="5"/>
              <a:endCxn id="212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13" name="Google Shape;213;p33"/>
            <p:cNvCxnSpPr>
              <a:stCxn id="209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14" name="Google Shape;214;p33"/>
            <p:cNvCxnSpPr>
              <a:stCxn id="209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12" name="Google Shape;212;p33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16" name="Google Shape;216;p33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17" name="Google Shape;217;p33"/>
            <p:cNvCxnSpPr>
              <a:stCxn id="212" idx="3"/>
              <a:endCxn id="216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18" name="Google Shape;218;p33"/>
            <p:cNvCxnSpPr>
              <a:stCxn id="212" idx="5"/>
              <a:endCxn id="215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19" name="Google Shape;219;p33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20" name="Google Shape;220;p33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21" name="Google Shape;221;p33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22" name="Google Shape;222;p33"/>
            <p:cNvCxnSpPr>
              <a:stCxn id="219" idx="3"/>
              <a:endCxn id="221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3" name="Google Shape;223;p33"/>
            <p:cNvCxnSpPr>
              <a:stCxn id="219" idx="5"/>
              <a:endCxn id="220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4" name="Google Shape;224;p33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25" name="Google Shape;225;p33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26" name="Google Shape;226;p33"/>
            <p:cNvCxnSpPr>
              <a:stCxn id="224" idx="3"/>
              <a:endCxn id="225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7" name="Google Shape;227;p33"/>
            <p:cNvSpPr txBox="1"/>
            <p:nvPr/>
          </p:nvSpPr>
          <p:spPr>
            <a:xfrm>
              <a:off x="2939383" y="5066589"/>
              <a:ext cx="1338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Max-heap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28" name="Google Shape;228;p33"/>
          <p:cNvGrpSpPr/>
          <p:nvPr/>
        </p:nvGrpSpPr>
        <p:grpSpPr>
          <a:xfrm>
            <a:off x="323590" y="3030368"/>
            <a:ext cx="3934683" cy="2535060"/>
            <a:chOff x="5010904" y="2900861"/>
            <a:chExt cx="3934683" cy="2535060"/>
          </a:xfrm>
        </p:grpSpPr>
        <p:sp>
          <p:nvSpPr>
            <p:cNvPr id="229" name="Google Shape;229;p33"/>
            <p:cNvSpPr/>
            <p:nvPr/>
          </p:nvSpPr>
          <p:spPr>
            <a:xfrm>
              <a:off x="6834103" y="290086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30" name="Google Shape;230;p33"/>
            <p:cNvSpPr/>
            <p:nvPr/>
          </p:nvSpPr>
          <p:spPr>
            <a:xfrm>
              <a:off x="5891021" y="3550150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31" name="Google Shape;231;p33"/>
            <p:cNvCxnSpPr>
              <a:stCxn id="229" idx="3"/>
              <a:endCxn id="230" idx="7"/>
            </p:cNvCxnSpPr>
            <p:nvPr/>
          </p:nvCxnSpPr>
          <p:spPr>
            <a:xfrm flipH="1">
              <a:off x="6228392" y="3238261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2" name="Google Shape;232;p33"/>
            <p:cNvCxnSpPr>
              <a:stCxn id="229" idx="5"/>
              <a:endCxn id="233" idx="1"/>
            </p:cNvCxnSpPr>
            <p:nvPr/>
          </p:nvCxnSpPr>
          <p:spPr>
            <a:xfrm>
              <a:off x="7171503" y="3238261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4" name="Google Shape;234;p33"/>
            <p:cNvCxnSpPr>
              <a:stCxn id="230" idx="3"/>
            </p:cNvCxnSpPr>
            <p:nvPr/>
          </p:nvCxnSpPr>
          <p:spPr>
            <a:xfrm flipH="1">
              <a:off x="5628210" y="3887550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5" name="Google Shape;235;p33"/>
            <p:cNvCxnSpPr>
              <a:stCxn id="230" idx="5"/>
            </p:cNvCxnSpPr>
            <p:nvPr/>
          </p:nvCxnSpPr>
          <p:spPr>
            <a:xfrm>
              <a:off x="6228421" y="3887550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33" name="Google Shape;233;p33"/>
            <p:cNvSpPr/>
            <p:nvPr/>
          </p:nvSpPr>
          <p:spPr>
            <a:xfrm>
              <a:off x="7786136" y="3551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36" name="Google Shape;236;p33"/>
            <p:cNvSpPr/>
            <p:nvPr/>
          </p:nvSpPr>
          <p:spPr>
            <a:xfrm>
              <a:off x="8370781" y="420208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37" name="Google Shape;237;p33"/>
            <p:cNvSpPr/>
            <p:nvPr/>
          </p:nvSpPr>
          <p:spPr>
            <a:xfrm>
              <a:off x="7186061" y="419583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38" name="Google Shape;238;p33"/>
            <p:cNvCxnSpPr>
              <a:stCxn id="233" idx="3"/>
              <a:endCxn id="237" idx="7"/>
            </p:cNvCxnSpPr>
            <p:nvPr/>
          </p:nvCxnSpPr>
          <p:spPr>
            <a:xfrm flipH="1">
              <a:off x="7523325" y="3889347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9" name="Google Shape;239;p33"/>
            <p:cNvCxnSpPr>
              <a:stCxn id="233" idx="5"/>
              <a:endCxn id="236" idx="1"/>
            </p:cNvCxnSpPr>
            <p:nvPr/>
          </p:nvCxnSpPr>
          <p:spPr>
            <a:xfrm>
              <a:off x="8123536" y="3889347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40" name="Google Shape;240;p33"/>
            <p:cNvSpPr/>
            <p:nvPr/>
          </p:nvSpPr>
          <p:spPr>
            <a:xfrm>
              <a:off x="5338179" y="4220223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41" name="Google Shape;241;p33"/>
            <p:cNvSpPr/>
            <p:nvPr/>
          </p:nvSpPr>
          <p:spPr>
            <a:xfrm>
              <a:off x="5679462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42" name="Google Shape;242;p33"/>
            <p:cNvSpPr/>
            <p:nvPr/>
          </p:nvSpPr>
          <p:spPr>
            <a:xfrm>
              <a:off x="5010904" y="486894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43" name="Google Shape;243;p33"/>
            <p:cNvCxnSpPr>
              <a:stCxn id="240" idx="3"/>
              <a:endCxn id="242" idx="0"/>
            </p:cNvCxnSpPr>
            <p:nvPr/>
          </p:nvCxnSpPr>
          <p:spPr>
            <a:xfrm flipH="1">
              <a:off x="5208568" y="4557623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44" name="Google Shape;244;p33"/>
            <p:cNvCxnSpPr>
              <a:stCxn id="240" idx="5"/>
              <a:endCxn id="241" idx="0"/>
            </p:cNvCxnSpPr>
            <p:nvPr/>
          </p:nvCxnSpPr>
          <p:spPr>
            <a:xfrm>
              <a:off x="5675579" y="4557623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45" name="Google Shape;245;p33"/>
            <p:cNvSpPr/>
            <p:nvPr/>
          </p:nvSpPr>
          <p:spPr>
            <a:xfrm>
              <a:off x="6461660" y="4220223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6138266" y="487035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47" name="Google Shape;247;p33"/>
            <p:cNvCxnSpPr>
              <a:stCxn id="245" idx="3"/>
              <a:endCxn id="246" idx="0"/>
            </p:cNvCxnSpPr>
            <p:nvPr/>
          </p:nvCxnSpPr>
          <p:spPr>
            <a:xfrm flipH="1">
              <a:off x="6335949" y="4557623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48" name="Google Shape;248;p33"/>
            <p:cNvSpPr txBox="1"/>
            <p:nvPr/>
          </p:nvSpPr>
          <p:spPr>
            <a:xfrm>
              <a:off x="7606619" y="5066589"/>
              <a:ext cx="1338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Min-heap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49" name="Google Shape;249;p33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Heaps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body" idx="1"/>
          </p:nvPr>
        </p:nvSpPr>
        <p:spPr>
          <a:xfrm>
            <a:off x="353192" y="990600"/>
            <a:ext cx="8592396" cy="17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 complete binary tree</a:t>
            </a:r>
            <a:endParaRPr lang="en-US"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Each of the elements contains a value that is less than or equal to the value of each of its children (Min-heap)</a:t>
            </a:r>
            <a:endParaRPr lang="en-US"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Each of the elements contains a value that is greater than or equal to the value of each of its children (Max-heap)</a:t>
            </a:r>
            <a:endParaRPr sz="2000"/>
          </a:p>
        </p:txBody>
      </p:sp>
      <p:grpSp>
        <p:nvGrpSpPr>
          <p:cNvPr id="255" name="Google Shape;255;p34"/>
          <p:cNvGrpSpPr/>
          <p:nvPr/>
        </p:nvGrpSpPr>
        <p:grpSpPr>
          <a:xfrm>
            <a:off x="4899434" y="3019782"/>
            <a:ext cx="3925160" cy="2535059"/>
            <a:chOff x="353191" y="2900862"/>
            <a:chExt cx="3925160" cy="2535059"/>
          </a:xfrm>
        </p:grpSpPr>
        <p:sp>
          <p:nvSpPr>
            <p:cNvPr id="256" name="Google Shape;256;p34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57" name="Google Shape;257;p34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58" name="Google Shape;258;p34"/>
            <p:cNvCxnSpPr>
              <a:stCxn id="256" idx="3"/>
              <a:endCxn id="257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9" name="Google Shape;259;p34"/>
            <p:cNvCxnSpPr>
              <a:stCxn id="256" idx="5"/>
              <a:endCxn id="260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1" name="Google Shape;261;p34"/>
            <p:cNvCxnSpPr>
              <a:stCxn id="257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2" name="Google Shape;262;p34"/>
            <p:cNvCxnSpPr>
              <a:stCxn id="257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60" name="Google Shape;260;p34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63" name="Google Shape;263;p34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64" name="Google Shape;264;p34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65" name="Google Shape;265;p34"/>
            <p:cNvCxnSpPr>
              <a:stCxn id="260" idx="3"/>
              <a:endCxn id="264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6" name="Google Shape;266;p34"/>
            <p:cNvCxnSpPr>
              <a:stCxn id="260" idx="5"/>
              <a:endCxn id="263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67" name="Google Shape;267;p34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68" name="Google Shape;268;p34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69" name="Google Shape;269;p34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70" name="Google Shape;270;p34"/>
            <p:cNvCxnSpPr>
              <a:stCxn id="267" idx="3"/>
              <a:endCxn id="269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1" name="Google Shape;271;p34"/>
            <p:cNvCxnSpPr>
              <a:stCxn id="267" idx="5"/>
              <a:endCxn id="268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72" name="Google Shape;272;p34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73" name="Google Shape;273;p34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74" name="Google Shape;274;p34"/>
            <p:cNvCxnSpPr>
              <a:stCxn id="272" idx="3"/>
              <a:endCxn id="273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75" name="Google Shape;275;p34"/>
            <p:cNvSpPr txBox="1"/>
            <p:nvPr/>
          </p:nvSpPr>
          <p:spPr>
            <a:xfrm>
              <a:off x="2939383" y="5066589"/>
              <a:ext cx="1338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Max-heap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6" name="Google Shape;276;p34"/>
          <p:cNvGrpSpPr/>
          <p:nvPr/>
        </p:nvGrpSpPr>
        <p:grpSpPr>
          <a:xfrm>
            <a:off x="323590" y="3030368"/>
            <a:ext cx="3934683" cy="2535060"/>
            <a:chOff x="5010904" y="2900861"/>
            <a:chExt cx="3934683" cy="2535060"/>
          </a:xfrm>
        </p:grpSpPr>
        <p:sp>
          <p:nvSpPr>
            <p:cNvPr id="277" name="Google Shape;277;p34"/>
            <p:cNvSpPr/>
            <p:nvPr/>
          </p:nvSpPr>
          <p:spPr>
            <a:xfrm>
              <a:off x="6834103" y="290086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5891021" y="3550150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79" name="Google Shape;279;p34"/>
            <p:cNvCxnSpPr>
              <a:stCxn id="277" idx="3"/>
              <a:endCxn id="278" idx="7"/>
            </p:cNvCxnSpPr>
            <p:nvPr/>
          </p:nvCxnSpPr>
          <p:spPr>
            <a:xfrm flipH="1">
              <a:off x="6228392" y="3238261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0" name="Google Shape;280;p34"/>
            <p:cNvCxnSpPr>
              <a:stCxn id="277" idx="5"/>
              <a:endCxn id="281" idx="1"/>
            </p:cNvCxnSpPr>
            <p:nvPr/>
          </p:nvCxnSpPr>
          <p:spPr>
            <a:xfrm>
              <a:off x="7171503" y="3238261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2" name="Google Shape;282;p34"/>
            <p:cNvCxnSpPr>
              <a:stCxn id="278" idx="3"/>
            </p:cNvCxnSpPr>
            <p:nvPr/>
          </p:nvCxnSpPr>
          <p:spPr>
            <a:xfrm flipH="1">
              <a:off x="5628210" y="3887550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3" name="Google Shape;283;p34"/>
            <p:cNvCxnSpPr>
              <a:stCxn id="278" idx="5"/>
            </p:cNvCxnSpPr>
            <p:nvPr/>
          </p:nvCxnSpPr>
          <p:spPr>
            <a:xfrm>
              <a:off x="6228421" y="3887550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81" name="Google Shape;281;p34"/>
            <p:cNvSpPr/>
            <p:nvPr/>
          </p:nvSpPr>
          <p:spPr>
            <a:xfrm>
              <a:off x="7786136" y="3551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8370781" y="420208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85" name="Google Shape;285;p34"/>
            <p:cNvSpPr/>
            <p:nvPr/>
          </p:nvSpPr>
          <p:spPr>
            <a:xfrm>
              <a:off x="7186061" y="419583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86" name="Google Shape;286;p34"/>
            <p:cNvCxnSpPr>
              <a:stCxn id="281" idx="3"/>
              <a:endCxn id="285" idx="7"/>
            </p:cNvCxnSpPr>
            <p:nvPr/>
          </p:nvCxnSpPr>
          <p:spPr>
            <a:xfrm flipH="1">
              <a:off x="7523325" y="3889347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7" name="Google Shape;287;p34"/>
            <p:cNvCxnSpPr>
              <a:stCxn id="281" idx="5"/>
              <a:endCxn id="284" idx="1"/>
            </p:cNvCxnSpPr>
            <p:nvPr/>
          </p:nvCxnSpPr>
          <p:spPr>
            <a:xfrm>
              <a:off x="8123536" y="3889347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88" name="Google Shape;288;p34"/>
            <p:cNvSpPr/>
            <p:nvPr/>
          </p:nvSpPr>
          <p:spPr>
            <a:xfrm>
              <a:off x="5338179" y="4220223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5679462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90" name="Google Shape;290;p34"/>
            <p:cNvSpPr/>
            <p:nvPr/>
          </p:nvSpPr>
          <p:spPr>
            <a:xfrm>
              <a:off x="5010904" y="486894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91" name="Google Shape;291;p34"/>
            <p:cNvCxnSpPr>
              <a:stCxn id="288" idx="3"/>
              <a:endCxn id="290" idx="0"/>
            </p:cNvCxnSpPr>
            <p:nvPr/>
          </p:nvCxnSpPr>
          <p:spPr>
            <a:xfrm flipH="1">
              <a:off x="5208568" y="4557623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92" name="Google Shape;292;p34"/>
            <p:cNvCxnSpPr>
              <a:stCxn id="288" idx="5"/>
              <a:endCxn id="289" idx="0"/>
            </p:cNvCxnSpPr>
            <p:nvPr/>
          </p:nvCxnSpPr>
          <p:spPr>
            <a:xfrm>
              <a:off x="5675579" y="4557623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3" name="Google Shape;293;p34"/>
            <p:cNvSpPr/>
            <p:nvPr/>
          </p:nvSpPr>
          <p:spPr>
            <a:xfrm>
              <a:off x="6461660" y="4220223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6138266" y="487035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295" name="Google Shape;295;p34"/>
            <p:cNvCxnSpPr>
              <a:stCxn id="293" idx="3"/>
              <a:endCxn id="294" idx="0"/>
            </p:cNvCxnSpPr>
            <p:nvPr/>
          </p:nvCxnSpPr>
          <p:spPr>
            <a:xfrm flipH="1">
              <a:off x="6335949" y="4557623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6" name="Google Shape;296;p34"/>
            <p:cNvSpPr txBox="1"/>
            <p:nvPr/>
          </p:nvSpPr>
          <p:spPr>
            <a:xfrm>
              <a:off x="7606619" y="5066589"/>
              <a:ext cx="1338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Min-heap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97" name="Google Shape;297;p34"/>
          <p:cNvSpPr/>
          <p:nvPr/>
        </p:nvSpPr>
        <p:spPr>
          <a:xfrm>
            <a:off x="609600" y="1030668"/>
            <a:ext cx="2647949" cy="264732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7003964" y="1021630"/>
            <a:ext cx="19596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Shape property</a:t>
            </a:r>
            <a:endParaRPr sz="16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99" name="Google Shape;299;p34"/>
          <p:cNvCxnSpPr>
            <a:stCxn id="298" idx="1"/>
            <a:endCxn id="297" idx="3"/>
          </p:cNvCxnSpPr>
          <p:nvPr/>
        </p:nvCxnSpPr>
        <p:spPr>
          <a:xfrm rot="10800000">
            <a:off x="3257564" y="1163007"/>
            <a:ext cx="3746400" cy="2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0" name="Google Shape;300;p34"/>
          <p:cNvSpPr txBox="1"/>
          <p:nvPr/>
        </p:nvSpPr>
        <p:spPr>
          <a:xfrm>
            <a:off x="466368" y="5654985"/>
            <a:ext cx="8197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shape of all heaps with a given number of elements is the same.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1" name="Google Shape;301;p34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Heaps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body" idx="1"/>
          </p:nvPr>
        </p:nvSpPr>
        <p:spPr>
          <a:xfrm>
            <a:off x="353192" y="990600"/>
            <a:ext cx="8592396" cy="17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 complete binary tree</a:t>
            </a:r>
            <a:endParaRPr lang="en-US"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Each of the elements contains a value that is less than or equal to the value of each of its children (Min-heap)</a:t>
            </a:r>
            <a:endParaRPr lang="en-US"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Each of the elements contains a value that is greater than or equal to the value of each of its children (Max-heap)</a:t>
            </a:r>
            <a:endParaRPr sz="2000"/>
          </a:p>
        </p:txBody>
      </p:sp>
      <p:grpSp>
        <p:nvGrpSpPr>
          <p:cNvPr id="307" name="Google Shape;307;p35"/>
          <p:cNvGrpSpPr/>
          <p:nvPr/>
        </p:nvGrpSpPr>
        <p:grpSpPr>
          <a:xfrm>
            <a:off x="4899434" y="3019782"/>
            <a:ext cx="3925160" cy="2535059"/>
            <a:chOff x="353191" y="2900862"/>
            <a:chExt cx="3925160" cy="2535059"/>
          </a:xfrm>
        </p:grpSpPr>
        <p:sp>
          <p:nvSpPr>
            <p:cNvPr id="308" name="Google Shape;308;p35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solidFill>
              <a:srgbClr val="FFC000">
                <a:alpha val="32941"/>
              </a:srgbClr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10" name="Google Shape;310;p35"/>
            <p:cNvCxnSpPr>
              <a:stCxn id="308" idx="3"/>
              <a:endCxn id="309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11" name="Google Shape;311;p35"/>
            <p:cNvCxnSpPr>
              <a:stCxn id="308" idx="5"/>
              <a:endCxn id="312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13" name="Google Shape;313;p35"/>
            <p:cNvCxnSpPr>
              <a:stCxn id="309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14" name="Google Shape;314;p35"/>
            <p:cNvCxnSpPr>
              <a:stCxn id="309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12" name="Google Shape;312;p35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15" name="Google Shape;315;p35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17" name="Google Shape;317;p35"/>
            <p:cNvCxnSpPr>
              <a:stCxn id="312" idx="3"/>
              <a:endCxn id="316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18" name="Google Shape;318;p35"/>
            <p:cNvCxnSpPr>
              <a:stCxn id="312" idx="5"/>
              <a:endCxn id="315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19" name="Google Shape;319;p35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21" name="Google Shape;321;p35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22" name="Google Shape;322;p35"/>
            <p:cNvCxnSpPr>
              <a:stCxn id="319" idx="3"/>
              <a:endCxn id="321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23" name="Google Shape;323;p35"/>
            <p:cNvCxnSpPr>
              <a:stCxn id="319" idx="5"/>
              <a:endCxn id="320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24" name="Google Shape;324;p35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26" name="Google Shape;326;p35"/>
            <p:cNvCxnSpPr>
              <a:stCxn id="324" idx="3"/>
              <a:endCxn id="325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27" name="Google Shape;327;p35"/>
            <p:cNvSpPr txBox="1"/>
            <p:nvPr/>
          </p:nvSpPr>
          <p:spPr>
            <a:xfrm>
              <a:off x="2939383" y="5066589"/>
              <a:ext cx="1338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Max-heap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28" name="Google Shape;328;p35"/>
          <p:cNvGrpSpPr/>
          <p:nvPr/>
        </p:nvGrpSpPr>
        <p:grpSpPr>
          <a:xfrm>
            <a:off x="323590" y="3030368"/>
            <a:ext cx="3934683" cy="2535060"/>
            <a:chOff x="5010904" y="2900861"/>
            <a:chExt cx="3934683" cy="2535060"/>
          </a:xfrm>
        </p:grpSpPr>
        <p:sp>
          <p:nvSpPr>
            <p:cNvPr id="329" name="Google Shape;329;p35"/>
            <p:cNvSpPr/>
            <p:nvPr/>
          </p:nvSpPr>
          <p:spPr>
            <a:xfrm>
              <a:off x="6834103" y="290086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5891021" y="3550150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31" name="Google Shape;331;p35"/>
            <p:cNvCxnSpPr>
              <a:stCxn id="329" idx="3"/>
              <a:endCxn id="330" idx="7"/>
            </p:cNvCxnSpPr>
            <p:nvPr/>
          </p:nvCxnSpPr>
          <p:spPr>
            <a:xfrm flipH="1">
              <a:off x="6228392" y="3238261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32" name="Google Shape;332;p35"/>
            <p:cNvCxnSpPr>
              <a:stCxn id="329" idx="5"/>
              <a:endCxn id="333" idx="1"/>
            </p:cNvCxnSpPr>
            <p:nvPr/>
          </p:nvCxnSpPr>
          <p:spPr>
            <a:xfrm>
              <a:off x="7171503" y="3238261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34" name="Google Shape;334;p35"/>
            <p:cNvCxnSpPr>
              <a:stCxn id="330" idx="3"/>
            </p:cNvCxnSpPr>
            <p:nvPr/>
          </p:nvCxnSpPr>
          <p:spPr>
            <a:xfrm flipH="1">
              <a:off x="5628210" y="3887550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35" name="Google Shape;335;p35"/>
            <p:cNvCxnSpPr>
              <a:stCxn id="330" idx="5"/>
            </p:cNvCxnSpPr>
            <p:nvPr/>
          </p:nvCxnSpPr>
          <p:spPr>
            <a:xfrm>
              <a:off x="6228421" y="3887550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33" name="Google Shape;333;p35"/>
            <p:cNvSpPr/>
            <p:nvPr/>
          </p:nvSpPr>
          <p:spPr>
            <a:xfrm>
              <a:off x="7786136" y="3551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8370781" y="420208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7186061" y="419583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38" name="Google Shape;338;p35"/>
            <p:cNvCxnSpPr>
              <a:stCxn id="333" idx="3"/>
              <a:endCxn id="337" idx="7"/>
            </p:cNvCxnSpPr>
            <p:nvPr/>
          </p:nvCxnSpPr>
          <p:spPr>
            <a:xfrm flipH="1">
              <a:off x="7523325" y="3889347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39" name="Google Shape;339;p35"/>
            <p:cNvCxnSpPr>
              <a:stCxn id="333" idx="5"/>
              <a:endCxn id="336" idx="1"/>
            </p:cNvCxnSpPr>
            <p:nvPr/>
          </p:nvCxnSpPr>
          <p:spPr>
            <a:xfrm>
              <a:off x="8123536" y="3889347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40" name="Google Shape;340;p35"/>
            <p:cNvSpPr/>
            <p:nvPr/>
          </p:nvSpPr>
          <p:spPr>
            <a:xfrm>
              <a:off x="5338179" y="4220223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5679462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5010904" y="486894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43" name="Google Shape;343;p35"/>
            <p:cNvCxnSpPr>
              <a:stCxn id="340" idx="3"/>
              <a:endCxn id="342" idx="0"/>
            </p:cNvCxnSpPr>
            <p:nvPr/>
          </p:nvCxnSpPr>
          <p:spPr>
            <a:xfrm flipH="1">
              <a:off x="5208568" y="4557623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44" name="Google Shape;344;p35"/>
            <p:cNvCxnSpPr>
              <a:stCxn id="340" idx="5"/>
              <a:endCxn id="341" idx="0"/>
            </p:cNvCxnSpPr>
            <p:nvPr/>
          </p:nvCxnSpPr>
          <p:spPr>
            <a:xfrm>
              <a:off x="5675579" y="4557623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45" name="Google Shape;345;p35"/>
            <p:cNvSpPr/>
            <p:nvPr/>
          </p:nvSpPr>
          <p:spPr>
            <a:xfrm>
              <a:off x="6461660" y="4220223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46" name="Google Shape;346;p35"/>
            <p:cNvSpPr/>
            <p:nvPr/>
          </p:nvSpPr>
          <p:spPr>
            <a:xfrm>
              <a:off x="6138266" y="487035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47" name="Google Shape;347;p35"/>
            <p:cNvCxnSpPr>
              <a:stCxn id="345" idx="3"/>
              <a:endCxn id="346" idx="0"/>
            </p:cNvCxnSpPr>
            <p:nvPr/>
          </p:nvCxnSpPr>
          <p:spPr>
            <a:xfrm flipH="1">
              <a:off x="6335949" y="4557623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48" name="Google Shape;348;p35"/>
            <p:cNvSpPr txBox="1"/>
            <p:nvPr/>
          </p:nvSpPr>
          <p:spPr>
            <a:xfrm>
              <a:off x="7606619" y="5066589"/>
              <a:ext cx="13389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Min-heap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49" name="Google Shape;349;p35"/>
          <p:cNvSpPr/>
          <p:nvPr/>
        </p:nvSpPr>
        <p:spPr>
          <a:xfrm>
            <a:off x="609600" y="1030668"/>
            <a:ext cx="2647949" cy="264732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0" name="Google Shape;350;p35"/>
          <p:cNvSpPr txBox="1"/>
          <p:nvPr/>
        </p:nvSpPr>
        <p:spPr>
          <a:xfrm>
            <a:off x="7003964" y="1021630"/>
            <a:ext cx="19596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Shape property</a:t>
            </a:r>
            <a:endParaRPr sz="16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351" name="Google Shape;351;p35"/>
          <p:cNvCxnSpPr>
            <a:stCxn id="350" idx="1"/>
            <a:endCxn id="349" idx="3"/>
          </p:cNvCxnSpPr>
          <p:nvPr/>
        </p:nvCxnSpPr>
        <p:spPr>
          <a:xfrm rot="10800000">
            <a:off x="3257564" y="1163007"/>
            <a:ext cx="3746400" cy="2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2" name="Google Shape;352;p35"/>
          <p:cNvSpPr/>
          <p:nvPr/>
        </p:nvSpPr>
        <p:spPr>
          <a:xfrm>
            <a:off x="5516876" y="1974334"/>
            <a:ext cx="2898131" cy="287673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878393" y="2248415"/>
            <a:ext cx="4183344" cy="266185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4" name="Google Shape;354;p35"/>
          <p:cNvSpPr txBox="1"/>
          <p:nvPr/>
        </p:nvSpPr>
        <p:spPr>
          <a:xfrm>
            <a:off x="3604422" y="2966677"/>
            <a:ext cx="169030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 property/Order property</a:t>
            </a:r>
            <a:endParaRPr lang="en-US" sz="16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355" name="Google Shape;355;p35"/>
          <p:cNvCxnSpPr>
            <a:stCxn id="354" idx="0"/>
            <a:endCxn id="353" idx="2"/>
          </p:cNvCxnSpPr>
          <p:nvPr/>
        </p:nvCxnSpPr>
        <p:spPr>
          <a:xfrm rot="10800000">
            <a:off x="2969973" y="2514577"/>
            <a:ext cx="1479600" cy="45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6" name="Google Shape;356;p35"/>
          <p:cNvSpPr txBox="1"/>
          <p:nvPr/>
        </p:nvSpPr>
        <p:spPr>
          <a:xfrm>
            <a:off x="466368" y="5654985"/>
            <a:ext cx="81974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shape of all heaps with a given number of elements is the same.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root node always contains the largest value in the max-heap (in addition, the subtrees are heaps as well).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7" name="Google Shape;357;p35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Heaps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353192" y="1744101"/>
            <a:ext cx="3755166" cy="2364786"/>
            <a:chOff x="353191" y="2900862"/>
            <a:chExt cx="3755166" cy="2364786"/>
          </a:xfrm>
        </p:grpSpPr>
        <p:sp>
          <p:nvSpPr>
            <p:cNvPr id="363" name="Google Shape;363;p36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65" name="Google Shape;365;p36"/>
            <p:cNvCxnSpPr>
              <a:stCxn id="363" idx="3"/>
              <a:endCxn id="364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66" name="Google Shape;366;p36"/>
            <p:cNvCxnSpPr>
              <a:stCxn id="363" idx="5"/>
              <a:endCxn id="367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68" name="Google Shape;368;p36"/>
            <p:cNvCxnSpPr>
              <a:stCxn id="364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69" name="Google Shape;369;p36"/>
            <p:cNvCxnSpPr>
              <a:stCxn id="364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67" name="Google Shape;367;p36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72" name="Google Shape;372;p36"/>
            <p:cNvCxnSpPr>
              <a:stCxn id="367" idx="3"/>
              <a:endCxn id="371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73" name="Google Shape;373;p36"/>
            <p:cNvCxnSpPr>
              <a:stCxn id="367" idx="5"/>
              <a:endCxn id="370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74" name="Google Shape;374;p36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77" name="Google Shape;377;p36"/>
            <p:cNvCxnSpPr>
              <a:stCxn id="374" idx="3"/>
              <a:endCxn id="376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78" name="Google Shape;378;p36"/>
            <p:cNvCxnSpPr>
              <a:stCxn id="374" idx="5"/>
              <a:endCxn id="375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79" name="Google Shape;379;p36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81" name="Google Shape;381;p36"/>
            <p:cNvCxnSpPr>
              <a:stCxn id="379" idx="3"/>
              <a:endCxn id="380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382" name="Google Shape;382;p36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Heaps (Implementation Issue)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383" name="Google Shape;383;p36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Heap elements can be stored as array elements (since the tree is complete, there are not any “holes” in the tree)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Heap elements can be stored as array elements (since the tree is complete, there are not any “holes” in the tree)</a:t>
            </a:r>
            <a:endParaRPr sz="2000"/>
          </a:p>
        </p:txBody>
      </p:sp>
      <p:grpSp>
        <p:nvGrpSpPr>
          <p:cNvPr id="389" name="Google Shape;389;p37"/>
          <p:cNvGrpSpPr/>
          <p:nvPr/>
        </p:nvGrpSpPr>
        <p:grpSpPr>
          <a:xfrm>
            <a:off x="353192" y="1744101"/>
            <a:ext cx="3755166" cy="2364786"/>
            <a:chOff x="353191" y="2900862"/>
            <a:chExt cx="3755166" cy="2364786"/>
          </a:xfrm>
        </p:grpSpPr>
        <p:sp>
          <p:nvSpPr>
            <p:cNvPr id="390" name="Google Shape;390;p37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92" name="Google Shape;392;p37"/>
            <p:cNvCxnSpPr>
              <a:stCxn id="390" idx="3"/>
              <a:endCxn id="391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93" name="Google Shape;393;p37"/>
            <p:cNvCxnSpPr>
              <a:stCxn id="390" idx="5"/>
              <a:endCxn id="394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95" name="Google Shape;395;p37"/>
            <p:cNvCxnSpPr>
              <a:stCxn id="391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96" name="Google Shape;396;p37"/>
            <p:cNvCxnSpPr>
              <a:stCxn id="391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94" name="Google Shape;394;p37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399" name="Google Shape;399;p37"/>
            <p:cNvCxnSpPr>
              <a:stCxn id="394" idx="3"/>
              <a:endCxn id="398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00" name="Google Shape;400;p37"/>
            <p:cNvCxnSpPr>
              <a:stCxn id="394" idx="5"/>
              <a:endCxn id="397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01" name="Google Shape;401;p37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04" name="Google Shape;404;p37"/>
            <p:cNvCxnSpPr>
              <a:stCxn id="401" idx="3"/>
              <a:endCxn id="403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05" name="Google Shape;405;p37"/>
            <p:cNvCxnSpPr>
              <a:stCxn id="401" idx="5"/>
              <a:endCxn id="402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06" name="Google Shape;406;p37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08" name="Google Shape;408;p37"/>
            <p:cNvCxnSpPr>
              <a:stCxn id="406" idx="3"/>
              <a:endCxn id="407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409" name="Google Shape;409;p37"/>
          <p:cNvSpPr txBox="1"/>
          <p:nvPr/>
        </p:nvSpPr>
        <p:spPr>
          <a:xfrm>
            <a:off x="174519" y="4324367"/>
            <a:ext cx="5498238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Map from array elements to tree nodes and vice versa</a:t>
            </a:r>
            <a:endParaRPr lang="en-US" sz="1800">
              <a:solidFill>
                <a:srgbClr val="CC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Root – 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[1]</a:t>
            </a:r>
            <a:endParaRPr lang="en-US"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Left[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 – 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[2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</a:t>
            </a:r>
            <a:endParaRPr lang="en-US"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Right[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 – 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[2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+1]</a:t>
            </a:r>
            <a:endParaRPr lang="en-US"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Parent[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 – 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[⎣</a:t>
            </a:r>
            <a:r>
              <a:rPr lang="en-US" sz="1600" b="0" i="1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/2⎦]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410" name="Google Shape;410;p37"/>
          <p:cNvGraphicFramePr/>
          <p:nvPr/>
        </p:nvGraphicFramePr>
        <p:xfrm>
          <a:off x="5916959" y="1932408"/>
          <a:ext cx="3000000" cy="4079350"/>
        </p:xfrm>
        <a:graphic>
          <a:graphicData uri="http://schemas.openxmlformats.org/drawingml/2006/table">
            <a:tbl>
              <a:tblPr>
                <a:noFill/>
                <a:tableStyleId>{7A663BDC-F3E1-455C-B153-1C1907E43765}</a:tableStyleId>
              </a:tblPr>
              <a:tblGrid>
                <a:gridCol w="843575"/>
                <a:gridCol w="8435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Index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Value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11" name="Google Shape;411;p37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Heaps (Implementation Issue)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8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Heap elements can be stored as array elements (since the tree is complete, there are not any “holes” in the tree)</a:t>
            </a:r>
            <a:endParaRPr sz="2000"/>
          </a:p>
        </p:txBody>
      </p:sp>
      <p:grpSp>
        <p:nvGrpSpPr>
          <p:cNvPr id="417" name="Google Shape;417;p38"/>
          <p:cNvGrpSpPr/>
          <p:nvPr/>
        </p:nvGrpSpPr>
        <p:grpSpPr>
          <a:xfrm>
            <a:off x="353192" y="1744101"/>
            <a:ext cx="3755166" cy="2364786"/>
            <a:chOff x="353191" y="2900862"/>
            <a:chExt cx="3755166" cy="2364786"/>
          </a:xfrm>
        </p:grpSpPr>
        <p:sp>
          <p:nvSpPr>
            <p:cNvPr id="418" name="Google Shape;418;p38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20" name="Google Shape;420;p38"/>
            <p:cNvCxnSpPr>
              <a:stCxn id="418" idx="3"/>
              <a:endCxn id="419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21" name="Google Shape;421;p38"/>
            <p:cNvCxnSpPr>
              <a:stCxn id="418" idx="5"/>
              <a:endCxn id="422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23" name="Google Shape;423;p38"/>
            <p:cNvCxnSpPr>
              <a:stCxn id="419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24" name="Google Shape;424;p38"/>
            <p:cNvCxnSpPr>
              <a:stCxn id="419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22" name="Google Shape;422;p38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26" name="Google Shape;426;p38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27" name="Google Shape;427;p38"/>
            <p:cNvCxnSpPr>
              <a:stCxn id="422" idx="3"/>
              <a:endCxn id="426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28" name="Google Shape;428;p38"/>
            <p:cNvCxnSpPr>
              <a:stCxn id="422" idx="5"/>
              <a:endCxn id="425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29" name="Google Shape;429;p38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30" name="Google Shape;430;p38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31" name="Google Shape;431;p38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32" name="Google Shape;432;p38"/>
            <p:cNvCxnSpPr>
              <a:stCxn id="429" idx="3"/>
              <a:endCxn id="431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33" name="Google Shape;433;p38"/>
            <p:cNvCxnSpPr>
              <a:stCxn id="429" idx="5"/>
              <a:endCxn id="430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34" name="Google Shape;434;p38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36" name="Google Shape;436;p38"/>
            <p:cNvCxnSpPr>
              <a:stCxn id="434" idx="3"/>
              <a:endCxn id="435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437" name="Google Shape;437;p38"/>
          <p:cNvSpPr txBox="1"/>
          <p:nvPr/>
        </p:nvSpPr>
        <p:spPr>
          <a:xfrm>
            <a:off x="174519" y="4333892"/>
            <a:ext cx="5498238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length[</a:t>
            </a:r>
            <a:r>
              <a:rPr lang="en-US" sz="1600" i="1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lang="en-US" sz="1600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– number of elements in array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heap-size[</a:t>
            </a:r>
            <a:r>
              <a:rPr lang="en-US" sz="1600" i="1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lang="en-US" sz="1600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– number of elements in heap stored in </a:t>
            </a:r>
            <a:r>
              <a:rPr lang="en-US" sz="16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A.</a:t>
            </a:r>
            <a:endParaRPr lang="en-US" sz="16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heap-size[</a:t>
            </a:r>
            <a:r>
              <a:rPr lang="en-US" sz="1600" b="0" i="1" u="none" strike="noStrike" cap="none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lang="en-US" sz="1600" b="0" i="0" u="none" strike="noStrike" cap="none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 ≤ length[</a:t>
            </a:r>
            <a:r>
              <a:rPr lang="en-US" sz="1600" b="0" i="1" u="none" strike="noStrike" cap="none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r>
              <a:rPr lang="en-US" sz="1600" b="0" i="0" u="none" strike="noStrike" cap="none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</a:t>
            </a:r>
            <a:endParaRPr lang="en-US" sz="1600" b="0" i="0" u="none" strike="noStrike" cap="none">
              <a:solidFill>
                <a:srgbClr val="CC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chemeClr val="accent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No. of leaves    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</a:t>
            </a:r>
            <a:r>
              <a:rPr lang="en-US" sz="1600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⎡</a:t>
            </a:r>
            <a:r>
              <a:rPr lang="en-US" sz="1600" i="1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</a:t>
            </a:r>
            <a:r>
              <a:rPr lang="en-US" sz="1600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/2⎤</a:t>
            </a:r>
            <a:endParaRPr lang="en-US" sz="1600">
              <a:solidFill>
                <a:srgbClr val="CC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chemeClr val="accent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Height of a heap</a:t>
            </a:r>
            <a:r>
              <a:rPr lang="en-US" sz="1600">
                <a:solidFill>
                  <a:schemeClr val="accent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</a:t>
            </a:r>
            <a:r>
              <a:rPr lang="en-US" sz="1600" i="1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</a:t>
            </a:r>
            <a:r>
              <a:rPr lang="en-US" sz="1600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⎣</a:t>
            </a:r>
            <a:r>
              <a:rPr lang="en-US" sz="1600" i="1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lg n</a:t>
            </a:r>
            <a:r>
              <a:rPr lang="en-US" sz="1600">
                <a:solidFill>
                  <a:srgbClr val="CC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⎦ </a:t>
            </a:r>
            <a:endParaRPr sz="1600">
              <a:solidFill>
                <a:srgbClr val="CC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CC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438" name="Google Shape;438;p38"/>
          <p:cNvGraphicFramePr/>
          <p:nvPr/>
        </p:nvGraphicFramePr>
        <p:xfrm>
          <a:off x="5916959" y="1932408"/>
          <a:ext cx="3000000" cy="4079350"/>
        </p:xfrm>
        <a:graphic>
          <a:graphicData uri="http://schemas.openxmlformats.org/drawingml/2006/table">
            <a:tbl>
              <a:tblPr>
                <a:noFill/>
                <a:tableStyleId>{7A663BDC-F3E1-455C-B153-1C1907E43765}</a:tableStyleId>
              </a:tblPr>
              <a:tblGrid>
                <a:gridCol w="843575"/>
                <a:gridCol w="8435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Index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Value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39" name="Google Shape;439;p38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Heaps (Implementation Issue)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Operations: Heapify()</a:t>
            </a:r>
            <a:endParaRPr lang="en-US" sz="3960"/>
          </a:p>
        </p:txBody>
      </p:sp>
      <p:sp>
        <p:nvSpPr>
          <p:cNvPr id="445" name="Google Shape;445;p39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b="1">
                <a:solidFill>
                  <a:schemeClr val="dk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Heapify()</a:t>
            </a:r>
            <a:r>
              <a:rPr lang="en-US"/>
              <a:t>: maintain the heap property</a:t>
            </a:r>
            <a:endParaRPr lang="en-US"/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b="1"/>
              <a:t>Given:</a:t>
            </a:r>
            <a:r>
              <a:rPr lang="en-US"/>
              <a:t> a node </a:t>
            </a:r>
            <a:r>
              <a:rPr lang="en-US" i="1"/>
              <a:t>i</a:t>
            </a:r>
            <a:r>
              <a:rPr lang="en-US"/>
              <a:t> in the heap with children </a:t>
            </a:r>
            <a:r>
              <a:rPr lang="en-US" i="1"/>
              <a:t>l</a:t>
            </a:r>
            <a:r>
              <a:rPr lang="en-US"/>
              <a:t> and </a:t>
            </a:r>
            <a:r>
              <a:rPr lang="en-US" i="1"/>
              <a:t>r</a:t>
            </a:r>
            <a:endParaRPr lang="en-US" i="1"/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b="1"/>
              <a:t>Given:</a:t>
            </a:r>
            <a:r>
              <a:rPr lang="en-US"/>
              <a:t> two subtrees rooted at </a:t>
            </a:r>
            <a:r>
              <a:rPr lang="en-US" i="1"/>
              <a:t>l</a:t>
            </a:r>
            <a:r>
              <a:rPr lang="en-US"/>
              <a:t> and </a:t>
            </a:r>
            <a:r>
              <a:rPr lang="en-US" i="1"/>
              <a:t>r</a:t>
            </a:r>
            <a:r>
              <a:rPr lang="en-US"/>
              <a:t>, assumed to be heaps</a:t>
            </a:r>
            <a:endParaRPr lang="en-US"/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b="1"/>
              <a:t>Problem:</a:t>
            </a:r>
            <a:r>
              <a:rPr lang="en-US"/>
              <a:t> The subtree rooted at </a:t>
            </a:r>
            <a:r>
              <a:rPr lang="en-US" i="1"/>
              <a:t>i </a:t>
            </a:r>
            <a:r>
              <a:rPr lang="en-US"/>
              <a:t>may violate the heap property</a:t>
            </a:r>
            <a:endParaRPr lang="en-US"/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b="1"/>
              <a:t>Action:</a:t>
            </a:r>
            <a:r>
              <a:rPr lang="en-US"/>
              <a:t> let the value of the parent node “float down” so subtree at </a:t>
            </a:r>
            <a:r>
              <a:rPr lang="en-US" i="1"/>
              <a:t>i</a:t>
            </a:r>
            <a:r>
              <a:rPr lang="en-US"/>
              <a:t> satisfies the heap property</a:t>
            </a:r>
            <a:endParaRPr lang="en-US"/>
          </a:p>
          <a:p>
            <a:pPr marL="12573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/>
              <a:t>May lead to the subtree at the child not being a heap.</a:t>
            </a:r>
            <a:endParaRPr>
              <a:solidFill>
                <a:srgbClr val="CC0000"/>
              </a:solidFill>
            </a:endParaRPr>
          </a:p>
          <a:p>
            <a:pPr marL="12573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 panose="020B0604020202020204"/>
              <a:buChar char="•"/>
            </a:pPr>
            <a:r>
              <a:rPr lang="en-US" sz="2000">
                <a:solidFill>
                  <a:srgbClr val="CC0000"/>
                </a:solidFill>
              </a:rPr>
              <a:t>Recursively fix the children</a:t>
            </a:r>
            <a:r>
              <a:rPr lang="en-US" sz="2000"/>
              <a:t> until all of them satisfy the max-heap property.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0"/>
          <p:cNvSpPr txBox="1"/>
          <p:nvPr>
            <p:ph type="body" idx="1"/>
          </p:nvPr>
        </p:nvSpPr>
        <p:spPr>
          <a:xfrm>
            <a:off x="353192" y="990600"/>
            <a:ext cx="8592396" cy="214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Suppose that, the order property is violated by the </a:t>
            </a:r>
            <a:r>
              <a:rPr lang="en-US" sz="2400" b="1"/>
              <a:t>root node</a:t>
            </a:r>
            <a:r>
              <a:rPr lang="en-US" sz="2400"/>
              <a:t> </a:t>
            </a:r>
            <a:r>
              <a:rPr lang="en-US" sz="2400" u="sng"/>
              <a:t>only</a:t>
            </a:r>
            <a:r>
              <a:rPr lang="en-US" sz="2400"/>
              <a:t> (not any other node, they are in place)</a:t>
            </a:r>
            <a:endParaRPr lang="en-US"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Repair the structure so that it becomes a heap again (called Heapify operation), that is, move the element down from the root position until it ends up in a position where the heap property is satisfied</a:t>
            </a:r>
            <a:endParaRPr lang="en-US" sz="2400"/>
          </a:p>
        </p:txBody>
      </p:sp>
      <p:grpSp>
        <p:nvGrpSpPr>
          <p:cNvPr id="451" name="Google Shape;451;p40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452" name="Google Shape;452;p40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54" name="Google Shape;454;p40"/>
            <p:cNvCxnSpPr>
              <a:stCxn id="452" idx="3"/>
              <a:endCxn id="453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55" name="Google Shape;455;p40"/>
            <p:cNvCxnSpPr>
              <a:stCxn id="452" idx="5"/>
              <a:endCxn id="456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57" name="Google Shape;457;p40"/>
            <p:cNvCxnSpPr>
              <a:stCxn id="453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58" name="Google Shape;458;p40"/>
            <p:cNvCxnSpPr>
              <a:stCxn id="453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56" name="Google Shape;456;p40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61" name="Google Shape;461;p40"/>
            <p:cNvCxnSpPr>
              <a:stCxn id="456" idx="3"/>
              <a:endCxn id="460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62" name="Google Shape;462;p40"/>
            <p:cNvCxnSpPr>
              <a:stCxn id="456" idx="5"/>
              <a:endCxn id="459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63" name="Google Shape;463;p40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66" name="Google Shape;466;p40"/>
            <p:cNvCxnSpPr>
              <a:stCxn id="463" idx="3"/>
              <a:endCxn id="465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67" name="Google Shape;467;p40"/>
            <p:cNvCxnSpPr>
              <a:stCxn id="463" idx="5"/>
              <a:endCxn id="464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68" name="Google Shape;468;p40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69" name="Google Shape;469;p40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70" name="Google Shape;470;p40"/>
            <p:cNvCxnSpPr>
              <a:stCxn id="468" idx="3"/>
              <a:endCxn id="469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471" name="Google Shape;471;p40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Illustration of Heapify</a:t>
            </a:r>
            <a:r>
              <a:rPr lang="en-US" sz="3960">
                <a:solidFill>
                  <a:schemeClr val="dk2"/>
                </a:solidFill>
              </a:rPr>
              <a:t> </a:t>
            </a:r>
            <a:r>
              <a:rPr lang="en-US" sz="3960"/>
              <a:t>operation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1"/>
          <p:cNvSpPr txBox="1"/>
          <p:nvPr>
            <p:ph type="body" idx="1"/>
          </p:nvPr>
        </p:nvSpPr>
        <p:spPr>
          <a:xfrm>
            <a:off x="353192" y="990600"/>
            <a:ext cx="8592396" cy="214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Suppose that, the order property is violated by the </a:t>
            </a:r>
            <a:r>
              <a:rPr lang="en-US" sz="2400" b="1"/>
              <a:t>root node</a:t>
            </a:r>
            <a:r>
              <a:rPr lang="en-US" sz="2400"/>
              <a:t> only (not any other node, they are in place)</a:t>
            </a:r>
            <a:endParaRPr lang="en-US"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Repair the structure so that it becomes a heap again (called Heapify operation), that is, move the element down from the root position until it ends up in a position where the heap property is satisfied</a:t>
            </a:r>
            <a:endParaRPr lang="en-US" sz="2400"/>
          </a:p>
        </p:txBody>
      </p:sp>
      <p:grpSp>
        <p:nvGrpSpPr>
          <p:cNvPr id="477" name="Google Shape;477;p41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478" name="Google Shape;478;p41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80" name="Google Shape;480;p41"/>
            <p:cNvCxnSpPr>
              <a:stCxn id="478" idx="3"/>
              <a:endCxn id="479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81" name="Google Shape;481;p41"/>
            <p:cNvCxnSpPr>
              <a:stCxn id="478" idx="5"/>
              <a:endCxn id="482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83" name="Google Shape;483;p41"/>
            <p:cNvCxnSpPr>
              <a:stCxn id="479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84" name="Google Shape;484;p41"/>
            <p:cNvCxnSpPr>
              <a:stCxn id="479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82" name="Google Shape;482;p41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86" name="Google Shape;486;p41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87" name="Google Shape;487;p41"/>
            <p:cNvCxnSpPr>
              <a:stCxn id="482" idx="3"/>
              <a:endCxn id="486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88" name="Google Shape;488;p41"/>
            <p:cNvCxnSpPr>
              <a:stCxn id="482" idx="5"/>
              <a:endCxn id="485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89" name="Google Shape;489;p41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90" name="Google Shape;490;p41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91" name="Google Shape;491;p41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92" name="Google Shape;492;p41"/>
            <p:cNvCxnSpPr>
              <a:stCxn id="489" idx="3"/>
              <a:endCxn id="491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93" name="Google Shape;493;p41"/>
            <p:cNvCxnSpPr>
              <a:stCxn id="489" idx="5"/>
              <a:endCxn id="490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94" name="Google Shape;494;p41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95" name="Google Shape;495;p41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496" name="Google Shape;496;p41"/>
            <p:cNvCxnSpPr>
              <a:stCxn id="494" idx="3"/>
              <a:endCxn id="495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497" name="Google Shape;497;p41"/>
          <p:cNvSpPr/>
          <p:nvPr/>
        </p:nvSpPr>
        <p:spPr>
          <a:xfrm>
            <a:off x="5061568" y="3594594"/>
            <a:ext cx="718457" cy="701778"/>
          </a:xfrm>
          <a:prstGeom prst="ellipse">
            <a:avLst/>
          </a:prstGeom>
          <a:solidFill>
            <a:srgbClr val="FF0000">
              <a:alpha val="2078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8" name="Google Shape;498;p41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The Heapify</a:t>
            </a:r>
            <a:r>
              <a:rPr lang="en-US" sz="3960">
                <a:solidFill>
                  <a:schemeClr val="dk2"/>
                </a:solidFill>
              </a:rPr>
              <a:t> </a:t>
            </a:r>
            <a:r>
              <a:rPr lang="en-US" sz="3960"/>
              <a:t>operation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99" name="Google Shape;499;p41"/>
          <p:cNvSpPr/>
          <p:nvPr/>
        </p:nvSpPr>
        <p:spPr>
          <a:xfrm>
            <a:off x="3029623" y="4143816"/>
            <a:ext cx="2946308" cy="1985634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0" name="Google Shape;500;p41"/>
          <p:cNvSpPr/>
          <p:nvPr/>
        </p:nvSpPr>
        <p:spPr>
          <a:xfrm>
            <a:off x="5318374" y="4143129"/>
            <a:ext cx="2175179" cy="1304706"/>
          </a:xfrm>
          <a:prstGeom prst="triangle">
            <a:avLst>
              <a:gd name="adj" fmla="val 50000"/>
            </a:avLst>
          </a:prstGeom>
          <a:solidFill>
            <a:srgbClr val="92D050">
              <a:alpha val="34901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2"/>
          <p:cNvSpPr txBox="1"/>
          <p:nvPr>
            <p:ph type="body" idx="1"/>
          </p:nvPr>
        </p:nvSpPr>
        <p:spPr>
          <a:xfrm>
            <a:off x="353192" y="990600"/>
            <a:ext cx="8592396" cy="214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Suppose that, the order property is violated by the </a:t>
            </a:r>
            <a:r>
              <a:rPr lang="en-US" sz="2400" b="1"/>
              <a:t>root node</a:t>
            </a:r>
            <a:r>
              <a:rPr lang="en-US" sz="2400"/>
              <a:t> only (not any other node, they are in place)</a:t>
            </a:r>
            <a:endParaRPr lang="en-US"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Repair the structure so that it becomes a heap again (called Heapify operation), that is, move the element down from the root position until it ends up in a position where the heap property is satisfied</a:t>
            </a:r>
            <a:endParaRPr lang="en-US" sz="2400"/>
          </a:p>
        </p:txBody>
      </p:sp>
      <p:grpSp>
        <p:nvGrpSpPr>
          <p:cNvPr id="506" name="Google Shape;506;p42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507" name="Google Shape;507;p42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08" name="Google Shape;508;p42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09" name="Google Shape;509;p42"/>
            <p:cNvCxnSpPr>
              <a:stCxn id="507" idx="3"/>
              <a:endCxn id="508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10" name="Google Shape;510;p42"/>
            <p:cNvCxnSpPr>
              <a:stCxn id="507" idx="5"/>
              <a:endCxn id="511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12" name="Google Shape;512;p42"/>
            <p:cNvCxnSpPr>
              <a:stCxn id="508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13" name="Google Shape;513;p42"/>
            <p:cNvCxnSpPr>
              <a:stCxn id="508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11" name="Google Shape;511;p42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14" name="Google Shape;514;p42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15" name="Google Shape;515;p42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16" name="Google Shape;516;p42"/>
            <p:cNvCxnSpPr>
              <a:stCxn id="511" idx="3"/>
              <a:endCxn id="515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17" name="Google Shape;517;p42"/>
            <p:cNvCxnSpPr>
              <a:stCxn id="511" idx="5"/>
              <a:endCxn id="514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18" name="Google Shape;518;p42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19" name="Google Shape;519;p42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20" name="Google Shape;520;p42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21" name="Google Shape;521;p42"/>
            <p:cNvCxnSpPr>
              <a:stCxn id="518" idx="3"/>
              <a:endCxn id="520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22" name="Google Shape;522;p42"/>
            <p:cNvCxnSpPr>
              <a:stCxn id="518" idx="5"/>
              <a:endCxn id="519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23" name="Google Shape;523;p42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24" name="Google Shape;524;p42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25" name="Google Shape;525;p42"/>
            <p:cNvCxnSpPr>
              <a:stCxn id="523" idx="3"/>
              <a:endCxn id="524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526" name="Google Shape;526;p42"/>
          <p:cNvSpPr/>
          <p:nvPr/>
        </p:nvSpPr>
        <p:spPr>
          <a:xfrm rot="-2051768">
            <a:off x="4096678" y="4059034"/>
            <a:ext cx="1779021" cy="39528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" name="Google Shape;527;p42"/>
          <p:cNvSpPr txBox="1"/>
          <p:nvPr/>
        </p:nvSpPr>
        <p:spPr>
          <a:xfrm>
            <a:off x="5118143" y="3221664"/>
            <a:ext cx="10045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swap</a:t>
            </a: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8" name="Google Shape;528;p42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The Heapify</a:t>
            </a:r>
            <a:r>
              <a:rPr lang="en-US" sz="3960">
                <a:solidFill>
                  <a:schemeClr val="dk2"/>
                </a:solidFill>
              </a:rPr>
              <a:t> </a:t>
            </a:r>
            <a:r>
              <a:rPr lang="en-US" sz="3960"/>
              <a:t>operation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529" name="Google Shape;529;p42"/>
          <p:cNvSpPr/>
          <p:nvPr/>
        </p:nvSpPr>
        <p:spPr>
          <a:xfrm>
            <a:off x="5061568" y="3594594"/>
            <a:ext cx="718457" cy="701778"/>
          </a:xfrm>
          <a:prstGeom prst="ellipse">
            <a:avLst/>
          </a:prstGeom>
          <a:solidFill>
            <a:srgbClr val="FF0000">
              <a:alpha val="2078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0" name="Google Shape;530;p42"/>
          <p:cNvSpPr/>
          <p:nvPr/>
        </p:nvSpPr>
        <p:spPr>
          <a:xfrm>
            <a:off x="3029623" y="4143816"/>
            <a:ext cx="2946308" cy="1985634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1" name="Google Shape;531;p42"/>
          <p:cNvSpPr/>
          <p:nvPr/>
        </p:nvSpPr>
        <p:spPr>
          <a:xfrm>
            <a:off x="5318374" y="4143129"/>
            <a:ext cx="2175179" cy="1304706"/>
          </a:xfrm>
          <a:prstGeom prst="triangle">
            <a:avLst>
              <a:gd name="adj" fmla="val 50000"/>
            </a:avLst>
          </a:prstGeom>
          <a:solidFill>
            <a:srgbClr val="92D050">
              <a:alpha val="34901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3"/>
          <p:cNvSpPr txBox="1"/>
          <p:nvPr>
            <p:ph type="body" idx="1"/>
          </p:nvPr>
        </p:nvSpPr>
        <p:spPr>
          <a:xfrm>
            <a:off x="353192" y="990600"/>
            <a:ext cx="8592396" cy="214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Suppose that, the order property is violated by the </a:t>
            </a:r>
            <a:r>
              <a:rPr lang="en-US" sz="2400" b="1"/>
              <a:t>root node</a:t>
            </a:r>
            <a:r>
              <a:rPr lang="en-US" sz="2400"/>
              <a:t> only (not any other node, they are in place)</a:t>
            </a:r>
            <a:endParaRPr lang="en-US"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Repair the structure so that it becomes a heap again (called Heapify operation), that is, move the element down from the root position until it ends up in a position where the heap property is satisfied</a:t>
            </a:r>
            <a:endParaRPr lang="en-US" sz="2400"/>
          </a:p>
        </p:txBody>
      </p:sp>
      <p:grpSp>
        <p:nvGrpSpPr>
          <p:cNvPr id="537" name="Google Shape;537;p43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538" name="Google Shape;538;p43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39" name="Google Shape;539;p43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40" name="Google Shape;540;p43"/>
            <p:cNvCxnSpPr>
              <a:stCxn id="538" idx="3"/>
              <a:endCxn id="539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41" name="Google Shape;541;p43"/>
            <p:cNvCxnSpPr>
              <a:stCxn id="538" idx="5"/>
              <a:endCxn id="542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43" name="Google Shape;543;p43"/>
            <p:cNvCxnSpPr>
              <a:stCxn id="539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44" name="Google Shape;544;p43"/>
            <p:cNvCxnSpPr>
              <a:stCxn id="539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42" name="Google Shape;542;p43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45" name="Google Shape;545;p43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46" name="Google Shape;546;p43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47" name="Google Shape;547;p43"/>
            <p:cNvCxnSpPr>
              <a:stCxn id="542" idx="3"/>
              <a:endCxn id="546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48" name="Google Shape;548;p43"/>
            <p:cNvCxnSpPr>
              <a:stCxn id="542" idx="5"/>
              <a:endCxn id="545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49" name="Google Shape;549;p43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50" name="Google Shape;550;p43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51" name="Google Shape;551;p43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52" name="Google Shape;552;p43"/>
            <p:cNvCxnSpPr>
              <a:stCxn id="549" idx="3"/>
              <a:endCxn id="551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53" name="Google Shape;553;p43"/>
            <p:cNvCxnSpPr>
              <a:stCxn id="549" idx="5"/>
              <a:endCxn id="550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4" name="Google Shape;554;p43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55" name="Google Shape;555;p43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56" name="Google Shape;556;p43"/>
            <p:cNvCxnSpPr>
              <a:stCxn id="554" idx="3"/>
              <a:endCxn id="555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557" name="Google Shape;557;p43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The Heapify</a:t>
            </a:r>
            <a:r>
              <a:rPr lang="en-US" sz="3960">
                <a:solidFill>
                  <a:schemeClr val="dk2"/>
                </a:solidFill>
              </a:rPr>
              <a:t> </a:t>
            </a:r>
            <a:r>
              <a:rPr lang="en-US" sz="3960"/>
              <a:t>operation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558" name="Google Shape;558;p43"/>
          <p:cNvSpPr/>
          <p:nvPr/>
        </p:nvSpPr>
        <p:spPr>
          <a:xfrm>
            <a:off x="4115164" y="4231155"/>
            <a:ext cx="718457" cy="701778"/>
          </a:xfrm>
          <a:prstGeom prst="ellipse">
            <a:avLst/>
          </a:prstGeom>
          <a:solidFill>
            <a:srgbClr val="FF0000">
              <a:alpha val="2078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9" name="Google Shape;559;p43"/>
          <p:cNvSpPr/>
          <p:nvPr/>
        </p:nvSpPr>
        <p:spPr>
          <a:xfrm>
            <a:off x="3094942" y="4793973"/>
            <a:ext cx="1700869" cy="1337033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0" name="Google Shape;560;p43"/>
          <p:cNvSpPr/>
          <p:nvPr/>
        </p:nvSpPr>
        <p:spPr>
          <a:xfrm>
            <a:off x="5318374" y="4143129"/>
            <a:ext cx="2175179" cy="1304706"/>
          </a:xfrm>
          <a:prstGeom prst="triangle">
            <a:avLst>
              <a:gd name="adj" fmla="val 50000"/>
            </a:avLst>
          </a:prstGeom>
          <a:solidFill>
            <a:srgbClr val="92D050">
              <a:alpha val="34901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1" name="Google Shape;561;p43"/>
          <p:cNvSpPr/>
          <p:nvPr/>
        </p:nvSpPr>
        <p:spPr>
          <a:xfrm>
            <a:off x="4193454" y="4781137"/>
            <a:ext cx="1700869" cy="1337033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"/>
          <p:cNvSpPr txBox="1"/>
          <p:nvPr>
            <p:ph type="body" idx="1"/>
          </p:nvPr>
        </p:nvSpPr>
        <p:spPr>
          <a:xfrm>
            <a:off x="353192" y="990600"/>
            <a:ext cx="8592396" cy="214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Suppose that, the order property is violated by the </a:t>
            </a:r>
            <a:r>
              <a:rPr lang="en-US" sz="2400" b="1"/>
              <a:t>root node</a:t>
            </a:r>
            <a:r>
              <a:rPr lang="en-US" sz="2400"/>
              <a:t> only (not any other node, they are in place)</a:t>
            </a:r>
            <a:endParaRPr lang="en-US"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Repair the structure so that it becomes a heap again (called Heapify operation), that is, move the element down from the root position until it ends up in a position where the heap property is satisfied</a:t>
            </a:r>
            <a:endParaRPr lang="en-US" sz="2400"/>
          </a:p>
        </p:txBody>
      </p:sp>
      <p:grpSp>
        <p:nvGrpSpPr>
          <p:cNvPr id="567" name="Google Shape;567;p44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568" name="Google Shape;568;p44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70" name="Google Shape;570;p44"/>
            <p:cNvCxnSpPr>
              <a:stCxn id="568" idx="3"/>
              <a:endCxn id="569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71" name="Google Shape;571;p44"/>
            <p:cNvCxnSpPr>
              <a:stCxn id="568" idx="5"/>
              <a:endCxn id="572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73" name="Google Shape;573;p44"/>
            <p:cNvCxnSpPr>
              <a:stCxn id="569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74" name="Google Shape;574;p44"/>
            <p:cNvCxnSpPr>
              <a:stCxn id="569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72" name="Google Shape;572;p44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77" name="Google Shape;577;p44"/>
            <p:cNvCxnSpPr>
              <a:stCxn id="572" idx="3"/>
              <a:endCxn id="576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78" name="Google Shape;578;p44"/>
            <p:cNvCxnSpPr>
              <a:stCxn id="572" idx="5"/>
              <a:endCxn id="575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79" name="Google Shape;579;p44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80" name="Google Shape;580;p44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81" name="Google Shape;581;p44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82" name="Google Shape;582;p44"/>
            <p:cNvCxnSpPr>
              <a:stCxn id="579" idx="3"/>
              <a:endCxn id="581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83" name="Google Shape;583;p44"/>
            <p:cNvCxnSpPr>
              <a:stCxn id="579" idx="5"/>
              <a:endCxn id="580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84" name="Google Shape;584;p44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585" name="Google Shape;585;p44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586" name="Google Shape;586;p44"/>
            <p:cNvCxnSpPr>
              <a:stCxn id="584" idx="3"/>
              <a:endCxn id="585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587" name="Google Shape;587;p44"/>
          <p:cNvSpPr/>
          <p:nvPr/>
        </p:nvSpPr>
        <p:spPr>
          <a:xfrm rot="2908750">
            <a:off x="3932793" y="4684042"/>
            <a:ext cx="1571054" cy="39528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8" name="Google Shape;588;p44"/>
          <p:cNvSpPr txBox="1"/>
          <p:nvPr/>
        </p:nvSpPr>
        <p:spPr>
          <a:xfrm>
            <a:off x="3609499" y="3815584"/>
            <a:ext cx="10045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swap</a:t>
            </a: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The Heapify</a:t>
            </a:r>
            <a:r>
              <a:rPr lang="en-US" sz="3960">
                <a:solidFill>
                  <a:schemeClr val="dk2"/>
                </a:solidFill>
              </a:rPr>
              <a:t> </a:t>
            </a:r>
            <a:r>
              <a:rPr lang="en-US" sz="3960"/>
              <a:t>operation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590" name="Google Shape;590;p44"/>
          <p:cNvSpPr/>
          <p:nvPr/>
        </p:nvSpPr>
        <p:spPr>
          <a:xfrm>
            <a:off x="4115164" y="4231155"/>
            <a:ext cx="718457" cy="701778"/>
          </a:xfrm>
          <a:prstGeom prst="ellipse">
            <a:avLst/>
          </a:prstGeom>
          <a:solidFill>
            <a:srgbClr val="FF0000">
              <a:alpha val="2078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1" name="Google Shape;591;p44"/>
          <p:cNvSpPr/>
          <p:nvPr/>
        </p:nvSpPr>
        <p:spPr>
          <a:xfrm>
            <a:off x="3094942" y="4793973"/>
            <a:ext cx="1700869" cy="1337033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2" name="Google Shape;592;p44"/>
          <p:cNvSpPr/>
          <p:nvPr/>
        </p:nvSpPr>
        <p:spPr>
          <a:xfrm>
            <a:off x="5318374" y="4143129"/>
            <a:ext cx="2175179" cy="1304706"/>
          </a:xfrm>
          <a:prstGeom prst="triangle">
            <a:avLst>
              <a:gd name="adj" fmla="val 50000"/>
            </a:avLst>
          </a:prstGeom>
          <a:solidFill>
            <a:srgbClr val="92D050">
              <a:alpha val="34901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3" name="Google Shape;593;p44"/>
          <p:cNvSpPr/>
          <p:nvPr/>
        </p:nvSpPr>
        <p:spPr>
          <a:xfrm>
            <a:off x="4193454" y="4781137"/>
            <a:ext cx="1700869" cy="1337033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5"/>
          <p:cNvSpPr txBox="1"/>
          <p:nvPr>
            <p:ph type="body" idx="1"/>
          </p:nvPr>
        </p:nvSpPr>
        <p:spPr>
          <a:xfrm>
            <a:off x="353192" y="990600"/>
            <a:ext cx="8592396" cy="214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Suppose that, the order property is violated by the </a:t>
            </a:r>
            <a:r>
              <a:rPr lang="en-US" sz="2400" b="1"/>
              <a:t>root node</a:t>
            </a:r>
            <a:r>
              <a:rPr lang="en-US" sz="2400"/>
              <a:t> only (not any other node, they are in place)</a:t>
            </a:r>
            <a:endParaRPr lang="en-US"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Repair the structure so that it becomes a heap again (called Heapify operation), that is, move the element down from the root position until it ends up in a position where the heap property is satisfied</a:t>
            </a:r>
            <a:endParaRPr lang="en-US" sz="2400"/>
          </a:p>
        </p:txBody>
      </p:sp>
      <p:grpSp>
        <p:nvGrpSpPr>
          <p:cNvPr id="599" name="Google Shape;599;p4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600" name="Google Shape;600;p45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01" name="Google Shape;601;p45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02" name="Google Shape;602;p45"/>
            <p:cNvCxnSpPr>
              <a:stCxn id="600" idx="3"/>
              <a:endCxn id="601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03" name="Google Shape;603;p45"/>
            <p:cNvCxnSpPr>
              <a:stCxn id="600" idx="5"/>
              <a:endCxn id="604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05" name="Google Shape;605;p45"/>
            <p:cNvCxnSpPr>
              <a:stCxn id="601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06" name="Google Shape;606;p45"/>
            <p:cNvCxnSpPr>
              <a:stCxn id="601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04" name="Google Shape;604;p45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07" name="Google Shape;607;p45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08" name="Google Shape;608;p45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09" name="Google Shape;609;p45"/>
            <p:cNvCxnSpPr>
              <a:stCxn id="604" idx="3"/>
              <a:endCxn id="608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10" name="Google Shape;610;p45"/>
            <p:cNvCxnSpPr>
              <a:stCxn id="604" idx="5"/>
              <a:endCxn id="607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11" name="Google Shape;611;p45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12" name="Google Shape;612;p45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13" name="Google Shape;613;p45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14" name="Google Shape;614;p45"/>
            <p:cNvCxnSpPr>
              <a:stCxn id="611" idx="3"/>
              <a:endCxn id="613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15" name="Google Shape;615;p45"/>
            <p:cNvCxnSpPr>
              <a:stCxn id="611" idx="5"/>
              <a:endCxn id="612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16" name="Google Shape;616;p45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17" name="Google Shape;617;p45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18" name="Google Shape;618;p45"/>
            <p:cNvCxnSpPr>
              <a:stCxn id="616" idx="3"/>
              <a:endCxn id="617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619" name="Google Shape;619;p45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The Heapify</a:t>
            </a:r>
            <a:r>
              <a:rPr lang="en-US" sz="3960">
                <a:solidFill>
                  <a:schemeClr val="dk2"/>
                </a:solidFill>
              </a:rPr>
              <a:t> </a:t>
            </a:r>
            <a:r>
              <a:rPr lang="en-US" sz="3960"/>
              <a:t>operation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620" name="Google Shape;620;p45"/>
          <p:cNvSpPr/>
          <p:nvPr/>
        </p:nvSpPr>
        <p:spPr>
          <a:xfrm>
            <a:off x="4688318" y="4916716"/>
            <a:ext cx="718457" cy="701778"/>
          </a:xfrm>
          <a:prstGeom prst="ellipse">
            <a:avLst/>
          </a:prstGeom>
          <a:solidFill>
            <a:srgbClr val="FF0000">
              <a:alpha val="2078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1" name="Google Shape;621;p45"/>
          <p:cNvSpPr/>
          <p:nvPr/>
        </p:nvSpPr>
        <p:spPr>
          <a:xfrm>
            <a:off x="3094942" y="4793973"/>
            <a:ext cx="1700869" cy="1337033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2" name="Google Shape;622;p45"/>
          <p:cNvSpPr/>
          <p:nvPr/>
        </p:nvSpPr>
        <p:spPr>
          <a:xfrm>
            <a:off x="5318374" y="4143129"/>
            <a:ext cx="2175179" cy="1304706"/>
          </a:xfrm>
          <a:prstGeom prst="triangle">
            <a:avLst>
              <a:gd name="adj" fmla="val 50000"/>
            </a:avLst>
          </a:prstGeom>
          <a:solidFill>
            <a:srgbClr val="92D050">
              <a:alpha val="34901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3" name="Google Shape;623;p45"/>
          <p:cNvSpPr/>
          <p:nvPr/>
        </p:nvSpPr>
        <p:spPr>
          <a:xfrm>
            <a:off x="4193455" y="5560604"/>
            <a:ext cx="1124920" cy="557566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6"/>
          <p:cNvSpPr txBox="1"/>
          <p:nvPr>
            <p:ph type="body" idx="1"/>
          </p:nvPr>
        </p:nvSpPr>
        <p:spPr>
          <a:xfrm>
            <a:off x="353192" y="990600"/>
            <a:ext cx="8592396" cy="214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Suppose that, the order property is violated by the </a:t>
            </a:r>
            <a:r>
              <a:rPr lang="en-US" sz="2400" b="1"/>
              <a:t>root node</a:t>
            </a:r>
            <a:r>
              <a:rPr lang="en-US" sz="2400"/>
              <a:t> only (not any other node, they are in place)</a:t>
            </a:r>
            <a:endParaRPr lang="en-US"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Repair the structure so that it becomes a heap again (called Heapify operation), that is, move the element down from the root position until it ends up in a position where the heap property is satisfied</a:t>
            </a:r>
            <a:endParaRPr lang="en-US" sz="2400"/>
          </a:p>
        </p:txBody>
      </p:sp>
      <p:grpSp>
        <p:nvGrpSpPr>
          <p:cNvPr id="629" name="Google Shape;629;p46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630" name="Google Shape;630;p46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31" name="Google Shape;631;p46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32" name="Google Shape;632;p46"/>
            <p:cNvCxnSpPr>
              <a:stCxn id="630" idx="3"/>
              <a:endCxn id="631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33" name="Google Shape;633;p46"/>
            <p:cNvCxnSpPr>
              <a:stCxn id="630" idx="5"/>
              <a:endCxn id="634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35" name="Google Shape;635;p46"/>
            <p:cNvCxnSpPr>
              <a:stCxn id="631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36" name="Google Shape;636;p46"/>
            <p:cNvCxnSpPr>
              <a:stCxn id="631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34" name="Google Shape;634;p46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37" name="Google Shape;637;p46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38" name="Google Shape;638;p46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39" name="Google Shape;639;p46"/>
            <p:cNvCxnSpPr>
              <a:stCxn id="634" idx="3"/>
              <a:endCxn id="638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40" name="Google Shape;640;p46"/>
            <p:cNvCxnSpPr>
              <a:stCxn id="634" idx="5"/>
              <a:endCxn id="637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41" name="Google Shape;641;p46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42" name="Google Shape;642;p46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43" name="Google Shape;643;p46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44" name="Google Shape;644;p46"/>
            <p:cNvCxnSpPr>
              <a:stCxn id="641" idx="3"/>
              <a:endCxn id="643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45" name="Google Shape;645;p46"/>
            <p:cNvCxnSpPr>
              <a:stCxn id="641" idx="5"/>
              <a:endCxn id="642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46" name="Google Shape;646;p46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47" name="Google Shape;647;p46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48" name="Google Shape;648;p46"/>
            <p:cNvCxnSpPr>
              <a:stCxn id="646" idx="3"/>
              <a:endCxn id="647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649" name="Google Shape;649;p46"/>
          <p:cNvSpPr/>
          <p:nvPr/>
        </p:nvSpPr>
        <p:spPr>
          <a:xfrm rot="-3803542">
            <a:off x="4288989" y="5394016"/>
            <a:ext cx="1224176" cy="39528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0" name="Google Shape;650;p46"/>
          <p:cNvSpPr txBox="1"/>
          <p:nvPr/>
        </p:nvSpPr>
        <p:spPr>
          <a:xfrm>
            <a:off x="4782153" y="4575481"/>
            <a:ext cx="10045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swap</a:t>
            </a: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1" name="Google Shape;651;p46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The Heapify</a:t>
            </a:r>
            <a:r>
              <a:rPr lang="en-US" sz="3960">
                <a:solidFill>
                  <a:schemeClr val="dk2"/>
                </a:solidFill>
              </a:rPr>
              <a:t> </a:t>
            </a:r>
            <a:r>
              <a:rPr lang="en-US" sz="3960"/>
              <a:t>operation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652" name="Google Shape;652;p46"/>
          <p:cNvSpPr/>
          <p:nvPr/>
        </p:nvSpPr>
        <p:spPr>
          <a:xfrm>
            <a:off x="4688318" y="4916716"/>
            <a:ext cx="718457" cy="701778"/>
          </a:xfrm>
          <a:prstGeom prst="ellipse">
            <a:avLst/>
          </a:prstGeom>
          <a:solidFill>
            <a:srgbClr val="FF0000">
              <a:alpha val="20784"/>
            </a:srgb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3" name="Google Shape;653;p46"/>
          <p:cNvSpPr/>
          <p:nvPr/>
        </p:nvSpPr>
        <p:spPr>
          <a:xfrm>
            <a:off x="3094942" y="4793973"/>
            <a:ext cx="1700869" cy="1337033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4" name="Google Shape;654;p46"/>
          <p:cNvSpPr/>
          <p:nvPr/>
        </p:nvSpPr>
        <p:spPr>
          <a:xfrm>
            <a:off x="5318374" y="4143129"/>
            <a:ext cx="2175179" cy="1304706"/>
          </a:xfrm>
          <a:prstGeom prst="triangle">
            <a:avLst>
              <a:gd name="adj" fmla="val 50000"/>
            </a:avLst>
          </a:prstGeom>
          <a:solidFill>
            <a:srgbClr val="92D050">
              <a:alpha val="34901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5" name="Google Shape;655;p46"/>
          <p:cNvSpPr/>
          <p:nvPr/>
        </p:nvSpPr>
        <p:spPr>
          <a:xfrm>
            <a:off x="4193455" y="5560604"/>
            <a:ext cx="1124920" cy="557566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7"/>
          <p:cNvSpPr txBox="1"/>
          <p:nvPr>
            <p:ph type="body" idx="1"/>
          </p:nvPr>
        </p:nvSpPr>
        <p:spPr>
          <a:xfrm>
            <a:off x="353192" y="990600"/>
            <a:ext cx="8592396" cy="214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Suppose that, the order property is violated by the </a:t>
            </a:r>
            <a:r>
              <a:rPr lang="en-US" sz="2400" b="1"/>
              <a:t>root node</a:t>
            </a:r>
            <a:r>
              <a:rPr lang="en-US" sz="2400"/>
              <a:t> only (not any other node, they are in place)</a:t>
            </a:r>
            <a:endParaRPr lang="en-US"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Repair the structure so that it becomes a heap again (called Heapify operation), that is, move the element down from the root position until it ends up in a position where the heap property is satisfied</a:t>
            </a:r>
            <a:endParaRPr lang="en-US" sz="2400"/>
          </a:p>
        </p:txBody>
      </p:sp>
      <p:grpSp>
        <p:nvGrpSpPr>
          <p:cNvPr id="661" name="Google Shape;661;p47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662" name="Google Shape;662;p47"/>
            <p:cNvSpPr/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63" name="Google Shape;663;p47"/>
            <p:cNvSpPr/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9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64" name="Google Shape;664;p47"/>
            <p:cNvCxnSpPr>
              <a:stCxn id="662" idx="3"/>
              <a:endCxn id="663" idx="7"/>
            </p:cNvCxnSpPr>
            <p:nvPr/>
          </p:nvCxnSpPr>
          <p:spPr>
            <a:xfrm flipH="1">
              <a:off x="1570679" y="3238262"/>
              <a:ext cx="663600" cy="369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65" name="Google Shape;665;p47"/>
            <p:cNvCxnSpPr>
              <a:stCxn id="662" idx="5"/>
              <a:endCxn id="666" idx="1"/>
            </p:cNvCxnSpPr>
            <p:nvPr/>
          </p:nvCxnSpPr>
          <p:spPr>
            <a:xfrm>
              <a:off x="2513790" y="3238262"/>
              <a:ext cx="672600" cy="37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67" name="Google Shape;667;p47"/>
            <p:cNvCxnSpPr>
              <a:stCxn id="663" idx="3"/>
            </p:cNvCxnSpPr>
            <p:nvPr/>
          </p:nvCxnSpPr>
          <p:spPr>
            <a:xfrm flipH="1">
              <a:off x="970497" y="3887551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68" name="Google Shape;668;p47"/>
            <p:cNvCxnSpPr>
              <a:stCxn id="663" idx="5"/>
            </p:cNvCxnSpPr>
            <p:nvPr/>
          </p:nvCxnSpPr>
          <p:spPr>
            <a:xfrm>
              <a:off x="1570708" y="3887551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66" name="Google Shape;666;p47"/>
            <p:cNvSpPr/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4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69" name="Google Shape;669;p47"/>
            <p:cNvSpPr/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1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70" name="Google Shape;670;p47"/>
            <p:cNvSpPr/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3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71" name="Google Shape;671;p47"/>
            <p:cNvCxnSpPr>
              <a:stCxn id="666" idx="3"/>
              <a:endCxn id="670" idx="7"/>
            </p:cNvCxnSpPr>
            <p:nvPr/>
          </p:nvCxnSpPr>
          <p:spPr>
            <a:xfrm flipH="1">
              <a:off x="2865612" y="3889348"/>
              <a:ext cx="320700" cy="364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72" name="Google Shape;672;p47"/>
            <p:cNvCxnSpPr>
              <a:stCxn id="666" idx="5"/>
              <a:endCxn id="669" idx="1"/>
            </p:cNvCxnSpPr>
            <p:nvPr/>
          </p:nvCxnSpPr>
          <p:spPr>
            <a:xfrm>
              <a:off x="3465823" y="3889348"/>
              <a:ext cx="305100" cy="370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73" name="Google Shape;673;p47"/>
            <p:cNvSpPr/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7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74" name="Google Shape;674;p47"/>
            <p:cNvSpPr/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5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75" name="Google Shape;675;p47"/>
            <p:cNvSpPr/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2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76" name="Google Shape;676;p47"/>
            <p:cNvCxnSpPr>
              <a:stCxn id="673" idx="3"/>
              <a:endCxn id="675" idx="0"/>
            </p:cNvCxnSpPr>
            <p:nvPr/>
          </p:nvCxnSpPr>
          <p:spPr>
            <a:xfrm flipH="1">
              <a:off x="550855" y="4557624"/>
              <a:ext cx="1875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77" name="Google Shape;677;p47"/>
            <p:cNvCxnSpPr>
              <a:stCxn id="673" idx="5"/>
              <a:endCxn id="674" idx="0"/>
            </p:cNvCxnSpPr>
            <p:nvPr/>
          </p:nvCxnSpPr>
          <p:spPr>
            <a:xfrm>
              <a:off x="1017866" y="4557624"/>
              <a:ext cx="2016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78" name="Google Shape;678;p47"/>
            <p:cNvSpPr/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8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679" name="Google Shape;679;p47"/>
            <p:cNvSpPr/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6</a:t>
              </a:r>
              <a:endParaRPr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cxnSp>
          <p:nvCxnSpPr>
            <p:cNvPr id="680" name="Google Shape;680;p47"/>
            <p:cNvCxnSpPr>
              <a:stCxn id="678" idx="3"/>
              <a:endCxn id="679" idx="0"/>
            </p:cNvCxnSpPr>
            <p:nvPr/>
          </p:nvCxnSpPr>
          <p:spPr>
            <a:xfrm flipH="1">
              <a:off x="1678236" y="4557624"/>
              <a:ext cx="1836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681" name="Google Shape;681;p47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The Heapify</a:t>
            </a:r>
            <a:r>
              <a:rPr lang="en-US" sz="3960">
                <a:solidFill>
                  <a:schemeClr val="dk2"/>
                </a:solidFill>
              </a:rPr>
              <a:t> </a:t>
            </a:r>
            <a:r>
              <a:rPr lang="en-US" sz="3960"/>
              <a:t>operation</a:t>
            </a:r>
            <a:endParaRPr sz="3960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682" name="Google Shape;682;p47"/>
          <p:cNvSpPr/>
          <p:nvPr/>
        </p:nvSpPr>
        <p:spPr>
          <a:xfrm>
            <a:off x="2605835" y="3310634"/>
            <a:ext cx="5640985" cy="2847787"/>
          </a:xfrm>
          <a:prstGeom prst="triangle">
            <a:avLst>
              <a:gd name="adj" fmla="val 50000"/>
            </a:avLst>
          </a:prstGeom>
          <a:solidFill>
            <a:srgbClr val="92D050">
              <a:alpha val="24705"/>
            </a:srgbClr>
          </a:solidFill>
          <a:ln w="127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8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Procedure MaxHeapify</a:t>
            </a:r>
            <a:endParaRPr lang="en-US" sz="3960"/>
          </a:p>
        </p:txBody>
      </p:sp>
      <p:sp>
        <p:nvSpPr>
          <p:cNvPr id="688" name="Google Shape;688;p48"/>
          <p:cNvSpPr/>
          <p:nvPr/>
        </p:nvSpPr>
        <p:spPr>
          <a:xfrm>
            <a:off x="312738" y="1600200"/>
            <a:ext cx="5651500" cy="5013325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 u="sng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MaxHeapify(A, i)</a:t>
            </a:r>
            <a:endParaRPr lang="en-US" sz="2400" u="sng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l ← left(i)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 r ← right(i)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 ≤ heap-size[A] and A[l] &gt; A[i]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  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then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largest ← l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else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largest ← i</a:t>
            </a:r>
            <a:endParaRPr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6.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 ≤ heap-size[A]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and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A[r] &gt; A[largest]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7.   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then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largest ← r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8.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largest≠  i</a:t>
            </a:r>
            <a:endParaRPr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9.   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then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exchange A[i] ↔ A[largest]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10.             MaxHeapify(A, largest)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89" name="Google Shape;689;p48"/>
          <p:cNvSpPr txBox="1"/>
          <p:nvPr/>
        </p:nvSpPr>
        <p:spPr>
          <a:xfrm>
            <a:off x="6308725" y="1560513"/>
            <a:ext cx="2609850" cy="11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 panose="020B0604020202020204"/>
              <a:buNone/>
            </a:pPr>
            <a:r>
              <a:rPr lang="en-US" sz="2000" u="sng">
                <a:solidFill>
                  <a:srgbClr val="CC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Assumption:</a:t>
            </a:r>
            <a:endParaRPr lang="en-US" sz="2000" u="sng">
              <a:solidFill>
                <a:srgbClr val="CC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 panose="020B0604020202020204"/>
              <a:buNone/>
            </a:pPr>
            <a:r>
              <a:rPr lang="en-US" sz="2000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Left(i) and Right(i) are max-heaps.</a:t>
            </a:r>
            <a:endParaRPr lang="en-US" sz="2000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9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Procedure MaxHeapify</a:t>
            </a:r>
            <a:endParaRPr lang="en-US" sz="3960"/>
          </a:p>
        </p:txBody>
      </p:sp>
      <p:sp>
        <p:nvSpPr>
          <p:cNvPr id="695" name="Google Shape;695;p49"/>
          <p:cNvSpPr/>
          <p:nvPr/>
        </p:nvSpPr>
        <p:spPr>
          <a:xfrm>
            <a:off x="312738" y="1600200"/>
            <a:ext cx="5651500" cy="5013325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 u="sng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MaxHeapify(A, i)</a:t>
            </a:r>
            <a:endParaRPr lang="en-US" sz="2400" u="sng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l ← left(i)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 r ← right(i)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 ≤ heap-size[A] and A[l] &gt; A[i]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  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then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largest ← l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else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largest ← i</a:t>
            </a:r>
            <a:endParaRPr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6.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 ≤ heap-size[A]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and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A[r] &gt; A[largest]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7.   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then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largest ← r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8.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largest≠  i</a:t>
            </a:r>
            <a:endParaRPr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9.    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then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exchange A[i] ↔ A[largest]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10.             MaxHeapify(A, largest)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96" name="Google Shape;696;p49"/>
          <p:cNvSpPr txBox="1"/>
          <p:nvPr/>
        </p:nvSpPr>
        <p:spPr>
          <a:xfrm>
            <a:off x="6372225" y="2624138"/>
            <a:ext cx="2478088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 panose="020B0604020202020204"/>
              <a:buNone/>
            </a:pPr>
            <a:r>
              <a:rPr lang="en-US" sz="2000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Time to fix node i and its children</a:t>
            </a:r>
            <a:r>
              <a:rPr lang="en-US"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</a:t>
            </a:r>
            <a:r>
              <a:rPr lang="en-US" sz="2000" b="1">
                <a:solidFill>
                  <a:srgbClr val="CC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Θ(1)</a:t>
            </a:r>
            <a:endParaRPr lang="en-US" sz="2000" b="1">
              <a:solidFill>
                <a:srgbClr val="CC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7" name="Google Shape;697;p49"/>
          <p:cNvSpPr/>
          <p:nvPr/>
        </p:nvSpPr>
        <p:spPr>
          <a:xfrm>
            <a:off x="6126163" y="2055223"/>
            <a:ext cx="112713" cy="3892731"/>
          </a:xfrm>
          <a:prstGeom prst="rightBrace">
            <a:avLst>
              <a:gd name="adj1" fmla="val 324832"/>
              <a:gd name="adj2" fmla="val 50671"/>
            </a:avLst>
          </a:prstGeom>
          <a:noFill/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endParaRPr sz="20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8" name="Google Shape;698;p49"/>
          <p:cNvSpPr txBox="1"/>
          <p:nvPr/>
        </p:nvSpPr>
        <p:spPr>
          <a:xfrm>
            <a:off x="6342063" y="4913313"/>
            <a:ext cx="2478087" cy="161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 panose="020B0604020202020204"/>
              <a:buNone/>
            </a:pPr>
            <a:r>
              <a:rPr lang="en-US" sz="2000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Time to fix the subtree rooted at one of i’s children</a:t>
            </a:r>
            <a:r>
              <a:rPr lang="en-US"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</a:t>
            </a:r>
            <a:r>
              <a:rPr lang="en-US" sz="2000">
                <a:solidFill>
                  <a:srgbClr val="CC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T(size of subree at largest)</a:t>
            </a:r>
            <a:endParaRPr sz="2000">
              <a:solidFill>
                <a:srgbClr val="CC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9" name="Google Shape;699;p49"/>
          <p:cNvSpPr/>
          <p:nvPr/>
        </p:nvSpPr>
        <p:spPr>
          <a:xfrm>
            <a:off x="6134419" y="6148250"/>
            <a:ext cx="45719" cy="296093"/>
          </a:xfrm>
          <a:prstGeom prst="rightBrace">
            <a:avLst>
              <a:gd name="adj1" fmla="val 52530"/>
              <a:gd name="adj2" fmla="val 50000"/>
            </a:avLst>
          </a:prstGeom>
          <a:noFill/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endParaRPr sz="20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0" name="Google Shape;700;p49"/>
          <p:cNvSpPr txBox="1"/>
          <p:nvPr/>
        </p:nvSpPr>
        <p:spPr>
          <a:xfrm>
            <a:off x="7267575" y="3937000"/>
            <a:ext cx="9302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en-US"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PLUS</a:t>
            </a:r>
            <a:endParaRPr lang="en-US" sz="20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0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Running Time for MaxHeapify(</a:t>
            </a:r>
            <a:r>
              <a:rPr lang="en-US" sz="3960" i="1"/>
              <a:t>A</a:t>
            </a:r>
            <a:r>
              <a:rPr lang="en-US" sz="3960"/>
              <a:t>, i)</a:t>
            </a:r>
            <a:endParaRPr lang="en-US" sz="3960"/>
          </a:p>
        </p:txBody>
      </p:sp>
      <p:sp>
        <p:nvSpPr>
          <p:cNvPr id="706" name="Google Shape;706;p50"/>
          <p:cNvSpPr txBox="1"/>
          <p:nvPr>
            <p:ph type="body" idx="1"/>
          </p:nvPr>
        </p:nvSpPr>
        <p:spPr>
          <a:xfrm>
            <a:off x="436563" y="1501775"/>
            <a:ext cx="8248650" cy="497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MaxHeapify takes</a:t>
            </a:r>
            <a:r>
              <a:rPr lang="en-US" sz="2800" i="1"/>
              <a:t> O</a:t>
            </a:r>
            <a:r>
              <a:rPr lang="en-US" sz="2800"/>
              <a:t>(</a:t>
            </a:r>
            <a:r>
              <a:rPr lang="en-US" sz="2800" i="1"/>
              <a:t>h</a:t>
            </a:r>
            <a:r>
              <a:rPr lang="en-US" sz="2800" i="1" baseline="-25000"/>
              <a:t>i</a:t>
            </a:r>
            <a:r>
              <a:rPr lang="en-US" sz="2800"/>
              <a:t>)</a:t>
            </a:r>
            <a:r>
              <a:rPr lang="en-US" sz="2800" i="1"/>
              <a:t> </a:t>
            </a:r>
            <a:r>
              <a:rPr lang="en-US" sz="2800"/>
              <a:t>where</a:t>
            </a:r>
            <a:r>
              <a:rPr lang="en-US" sz="2800" i="1"/>
              <a:t> h</a:t>
            </a:r>
            <a:r>
              <a:rPr lang="en-US" sz="2800" i="1" baseline="-25000"/>
              <a:t>i</a:t>
            </a:r>
            <a:r>
              <a:rPr lang="en-US" sz="2800" i="1"/>
              <a:t> </a:t>
            </a:r>
            <a:r>
              <a:rPr lang="en-US" sz="2800"/>
              <a:t>is the height of the node i where MaxHeapify is applied</a:t>
            </a:r>
            <a:endParaRPr lang="en-US" sz="2800"/>
          </a:p>
          <a:p>
            <a:pPr marL="0" lvl="0" indent="0" algn="l" rtl="0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If MaxHeapify is applied on the root node, then it will take O(h) time where h is the height of the whole tree which is O(lgn) (</a:t>
            </a:r>
            <a:r>
              <a:rPr lang="en-US" b="1"/>
              <a:t>Why?</a:t>
            </a:r>
            <a:r>
              <a:rPr lang="en-US"/>
              <a:t>)</a:t>
            </a:r>
            <a:endParaRPr lang="en-US"/>
          </a:p>
          <a:p>
            <a:pPr marL="0" lvl="0" indent="0" algn="l" rtl="0">
              <a:lnSpc>
                <a:spcPct val="9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#nodes in the last level of a complete binary tree is at most 2</a:t>
            </a:r>
            <a:r>
              <a:rPr lang="en-US" sz="2400" baseline="30000"/>
              <a:t>h</a:t>
            </a:r>
            <a:endParaRPr lang="en-US" sz="2400" baseline="30000"/>
          </a:p>
          <a:p>
            <a:pPr marL="0" lvl="0" indent="0" algn="l" rtl="0">
              <a:lnSpc>
                <a:spcPct val="9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Therefore </a:t>
            </a:r>
            <a:r>
              <a:rPr lang="en-US" sz="2400" i="1"/>
              <a:t>2</a:t>
            </a:r>
            <a:r>
              <a:rPr lang="en-US" sz="2400" i="1" baseline="30000"/>
              <a:t>h</a:t>
            </a:r>
            <a:r>
              <a:rPr lang="en-US" sz="2400" i="1"/>
              <a:t> ≤ n </a:t>
            </a:r>
            <a:endParaRPr lang="en-US" sz="2400" i="1"/>
          </a:p>
          <a:p>
            <a:pPr marL="0" lvl="0" indent="0" algn="l" rtl="0">
              <a:lnSpc>
                <a:spcPct val="9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i="1"/>
              <a:t>	=&gt; h ≤ lg n</a:t>
            </a:r>
            <a:endParaRPr lang="en-US" sz="2400" i="1"/>
          </a:p>
          <a:p>
            <a:pPr marL="0" lvl="0" indent="0" algn="l" rtl="0">
              <a:lnSpc>
                <a:spcPct val="9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i="1"/>
              <a:t>	=&gt; h ≤ </a:t>
            </a:r>
            <a:r>
              <a:rPr lang="en-US" sz="2400"/>
              <a:t>⎣</a:t>
            </a:r>
            <a:r>
              <a:rPr lang="en-US" sz="2400" i="1"/>
              <a:t>lg n</a:t>
            </a:r>
            <a:r>
              <a:rPr lang="en-US" sz="2400"/>
              <a:t>⎦ since h must be an integer</a:t>
            </a:r>
            <a:endParaRPr lang="en-US" sz="2400"/>
          </a:p>
          <a:p>
            <a:pPr marL="0" lvl="0" indent="0" algn="l" rtl="0">
              <a:lnSpc>
                <a:spcPct val="9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aseline="30000"/>
              <a:t>	</a:t>
            </a:r>
            <a:endParaRPr lang="en-US" sz="2400" baseline="30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1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Converting an array to a Max-Heap</a:t>
            </a:r>
            <a:endParaRPr lang="en-US" sz="3960"/>
          </a:p>
        </p:txBody>
      </p:sp>
      <p:sp>
        <p:nvSpPr>
          <p:cNvPr id="712" name="Google Shape;712;p51"/>
          <p:cNvSpPr txBox="1"/>
          <p:nvPr>
            <p:ph type="body" idx="1"/>
          </p:nvPr>
        </p:nvSpPr>
        <p:spPr>
          <a:xfrm>
            <a:off x="319088" y="1473200"/>
            <a:ext cx="8458200" cy="216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Use </a:t>
            </a:r>
            <a:r>
              <a:rPr lang="en-US" sz="2800" i="1">
                <a:solidFill>
                  <a:srgbClr val="CC0000"/>
                </a:solidFill>
              </a:rPr>
              <a:t>MaxHeapify</a:t>
            </a:r>
            <a:r>
              <a:rPr lang="en-US" sz="2800"/>
              <a:t> to </a:t>
            </a:r>
            <a:r>
              <a:rPr lang="en-US" sz="2800">
                <a:solidFill>
                  <a:schemeClr val="hlink"/>
                </a:solidFill>
              </a:rPr>
              <a:t>convert an array</a:t>
            </a:r>
            <a:r>
              <a:rPr lang="en-US" sz="2800"/>
              <a:t> </a:t>
            </a:r>
            <a:r>
              <a:rPr lang="en-US" sz="2800" i="1"/>
              <a:t>A</a:t>
            </a:r>
            <a:r>
              <a:rPr lang="en-US" sz="2800"/>
              <a:t> </a:t>
            </a:r>
            <a:r>
              <a:rPr lang="en-US" sz="2800">
                <a:solidFill>
                  <a:schemeClr val="hlink"/>
                </a:solidFill>
              </a:rPr>
              <a:t>into a max-heap</a:t>
            </a:r>
            <a:r>
              <a:rPr lang="en-US" sz="2800"/>
              <a:t>.</a:t>
            </a:r>
            <a:endParaRPr lang="en-US" sz="280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r>
              <a:rPr lang="en-US" sz="2800" u="sng">
                <a:solidFill>
                  <a:srgbClr val="CC0000"/>
                </a:solidFill>
              </a:rPr>
              <a:t>How?</a:t>
            </a:r>
            <a:endParaRPr lang="en-US" sz="2800" u="sng"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Call MaxHeapify on each element in a bottom-up manner starting from the lowest parent (which is at index </a:t>
            </a:r>
            <a:r>
              <a:rPr lang="en-US"/>
              <a:t>⎣</a:t>
            </a:r>
            <a:r>
              <a:rPr lang="en-US" i="1"/>
              <a:t>n/2</a:t>
            </a:r>
            <a:r>
              <a:rPr lang="en-US"/>
              <a:t>⎦</a:t>
            </a:r>
            <a:r>
              <a:rPr lang="en-US" sz="2800"/>
              <a:t>).</a:t>
            </a:r>
            <a:endParaRPr lang="en-US" sz="2800"/>
          </a:p>
        </p:txBody>
      </p:sp>
      <p:sp>
        <p:nvSpPr>
          <p:cNvPr id="713" name="Google Shape;713;p51"/>
          <p:cNvSpPr/>
          <p:nvPr/>
        </p:nvSpPr>
        <p:spPr>
          <a:xfrm>
            <a:off x="593725" y="3933825"/>
            <a:ext cx="6670675" cy="2314575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r>
              <a:rPr lang="en-US" sz="2800" u="sng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BuildMaxHeap(A)</a:t>
            </a:r>
            <a:endParaRPr lang="en-US" sz="2800" u="sng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heap-size[A] ← length[A]</a:t>
            </a:r>
            <a:endParaRPr lang="en-US" sz="28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 </a:t>
            </a:r>
            <a:r>
              <a:rPr lang="en-US" sz="28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</a:t>
            </a:r>
            <a:r>
              <a:rPr lang="en-US" sz="28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 ← ⎣length[A]/2⎦ </a:t>
            </a:r>
            <a:r>
              <a:rPr lang="en-US" sz="28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downto</a:t>
            </a:r>
            <a:r>
              <a:rPr lang="en-US" sz="28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</a:t>
            </a:r>
            <a:endParaRPr lang="en-US" sz="28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      </a:t>
            </a:r>
            <a:r>
              <a:rPr lang="en-US" sz="28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</a:t>
            </a:r>
            <a:r>
              <a:rPr lang="en-US" sz="28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MaxHeapify(A, i)</a:t>
            </a:r>
            <a:endParaRPr lang="en-US" sz="28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2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719" name="Google Shape;719;p52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720" name="Google Shape;720;p52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3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726" name="Google Shape;726;p53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727" name="Google Shape;727;p53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pSp>
        <p:nvGrpSpPr>
          <p:cNvPr id="728" name="Google Shape;728;p53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729" name="Google Shape;729;p53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" name="Google Shape;730;p53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53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2" name="Google Shape;732;p53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3" name="Google Shape;733;p53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4" name="Google Shape;734;p53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35" name="Google Shape;735;p53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6" name="Google Shape;736;p53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7" name="Google Shape;737;p53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8" name="Google Shape;738;p53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9" name="Google Shape;739;p53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0" name="Google Shape;740;p53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1" name="Google Shape;741;p53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2" name="Google Shape;742;p53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3" name="Google Shape;743;p53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4" name="Google Shape;744;p53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5" name="Google Shape;745;p53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6" name="Google Shape;746;p53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7" name="Google Shape;747;p53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8" name="Google Shape;748;p53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9" name="Google Shape;749;p53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0" name="Google Shape;750;p53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1" name="Google Shape;751;p53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2" name="Google Shape;752;p53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3" name="Google Shape;753;p53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4" name="Google Shape;754;p53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4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760" name="Google Shape;760;p54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761" name="Google Shape;761;p54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762" name="Google Shape;762;p54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763" name="Google Shape;763;p54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764" name="Google Shape;764;p54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5" name="Google Shape;765;p54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6" name="Google Shape;766;p54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7" name="Google Shape;767;p54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8" name="Google Shape;768;p54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9" name="Google Shape;769;p54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0" name="Google Shape;770;p54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1" name="Google Shape;771;p54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2" name="Google Shape;772;p54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3" name="Google Shape;773;p54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4" name="Google Shape;774;p54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5" name="Google Shape;775;p54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6" name="Google Shape;776;p54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7" name="Google Shape;777;p54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8" name="Google Shape;778;p54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9" name="Google Shape;779;p54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0" name="Google Shape;780;p54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1" name="Google Shape;781;p54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2" name="Google Shape;782;p54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3" name="Google Shape;783;p54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4" name="Google Shape;784;p54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5" name="Google Shape;785;p54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6" name="Google Shape;786;p54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7" name="Google Shape;787;p54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8" name="Google Shape;788;p54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9" name="Google Shape;789;p54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5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795" name="Google Shape;795;p55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796" name="Google Shape;796;p55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797" name="Google Shape;797;p55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798" name="Google Shape;798;p55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799" name="Google Shape;799;p55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0" name="Google Shape;800;p55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1" name="Google Shape;801;p55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2" name="Google Shape;802;p55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3" name="Google Shape;803;p55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4" name="Google Shape;804;p55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5" name="Google Shape;805;p55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6" name="Google Shape;806;p55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7" name="Google Shape;807;p55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8" name="Google Shape;808;p55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9" name="Google Shape;809;p55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0" name="Google Shape;810;p55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1" name="Google Shape;811;p55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2" name="Google Shape;812;p55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3" name="Google Shape;813;p55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4" name="Google Shape;814;p55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5" name="Google Shape;815;p55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6" name="Google Shape;816;p55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7" name="Google Shape;817;p55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8" name="Google Shape;818;p55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9" name="Google Shape;819;p55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0" name="Google Shape;820;p55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1" name="Google Shape;821;p55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2" name="Google Shape;822;p55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3" name="Google Shape;823;p55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4" name="Google Shape;824;p55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56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830" name="Google Shape;830;p56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831" name="Google Shape;831;p56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832" name="Google Shape;832;p56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833" name="Google Shape;833;p56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834" name="Google Shape;834;p56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5" name="Google Shape;835;p56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6" name="Google Shape;836;p56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7" name="Google Shape;837;p56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8" name="Google Shape;838;p56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9" name="Google Shape;839;p56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0" name="Google Shape;840;p56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1" name="Google Shape;841;p56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2" name="Google Shape;842;p56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3" name="Google Shape;843;p56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4" name="Google Shape;844;p56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5" name="Google Shape;845;p56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6" name="Google Shape;846;p56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7" name="Google Shape;847;p56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8" name="Google Shape;848;p56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9" name="Google Shape;849;p56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0" name="Google Shape;850;p56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1" name="Google Shape;851;p56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2" name="Google Shape;852;p56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3" name="Google Shape;853;p56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4" name="Google Shape;854;p56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5" name="Google Shape;855;p56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6" name="Google Shape;856;p56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7" name="Google Shape;857;p56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8" name="Google Shape;858;p56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9" name="Google Shape;859;p56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7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865" name="Google Shape;865;p57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866" name="Google Shape;866;p57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867" name="Google Shape;867;p57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868" name="Google Shape;868;p57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869" name="Google Shape;869;p57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0" name="Google Shape;870;p57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1" name="Google Shape;871;p57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2" name="Google Shape;872;p57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3" name="Google Shape;873;p57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4" name="Google Shape;874;p57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75" name="Google Shape;875;p57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6" name="Google Shape;876;p57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7" name="Google Shape;877;p57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8" name="Google Shape;878;p57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9" name="Google Shape;879;p57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0" name="Google Shape;880;p57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1" name="Google Shape;881;p57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2" name="Google Shape;882;p57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3" name="Google Shape;883;p57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4" name="Google Shape;884;p57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5" name="Google Shape;885;p57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6" name="Google Shape;886;p57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7" name="Google Shape;887;p57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8" name="Google Shape;888;p57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9" name="Google Shape;889;p57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0" name="Google Shape;890;p57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1" name="Google Shape;891;p57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2" name="Google Shape;892;p57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3" name="Google Shape;893;p57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4" name="Google Shape;894;p57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8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900" name="Google Shape;900;p58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901" name="Google Shape;901;p58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902" name="Google Shape;902;p58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903" name="Google Shape;903;p58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904" name="Google Shape;904;p58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5" name="Google Shape;905;p58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6" name="Google Shape;906;p58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7" name="Google Shape;907;p58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8" name="Google Shape;908;p58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9" name="Google Shape;909;p58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0" name="Google Shape;910;p58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1" name="Google Shape;911;p58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2" name="Google Shape;912;p58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3" name="Google Shape;913;p58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4" name="Google Shape;914;p58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5" name="Google Shape;915;p58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6" name="Google Shape;916;p58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7" name="Google Shape;917;p58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8" name="Google Shape;918;p58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9" name="Google Shape;919;p58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0" name="Google Shape;920;p58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1" name="Google Shape;921;p58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2" name="Google Shape;922;p58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3" name="Google Shape;923;p58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4" name="Google Shape;924;p58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5" name="Google Shape;925;p58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6" name="Google Shape;926;p58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7" name="Google Shape;927;p58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8" name="Google Shape;928;p58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9" name="Google Shape;929;p58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9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935" name="Google Shape;935;p59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936" name="Google Shape;936;p59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937" name="Google Shape;937;p59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938" name="Google Shape;938;p59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939" name="Google Shape;939;p59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0" name="Google Shape;940;p59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1" name="Google Shape;941;p59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2" name="Google Shape;942;p59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3" name="Google Shape;943;p59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4" name="Google Shape;944;p59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45" name="Google Shape;945;p59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6" name="Google Shape;946;p59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7" name="Google Shape;947;p59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8" name="Google Shape;948;p59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9" name="Google Shape;949;p59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0" name="Google Shape;950;p59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1" name="Google Shape;951;p59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2" name="Google Shape;952;p59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3" name="Google Shape;953;p59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4" name="Google Shape;954;p59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5" name="Google Shape;955;p59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6" name="Google Shape;956;p59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7" name="Google Shape;957;p59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8" name="Google Shape;958;p59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9" name="Google Shape;959;p59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0" name="Google Shape;960;p59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1" name="Google Shape;961;p59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2" name="Google Shape;962;p59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3" name="Google Shape;963;p59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4" name="Google Shape;964;p59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0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970" name="Google Shape;970;p60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971" name="Google Shape;971;p60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972" name="Google Shape;972;p60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973" name="Google Shape;973;p60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974" name="Google Shape;974;p60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5" name="Google Shape;975;p60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6" name="Google Shape;976;p60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7" name="Google Shape;977;p60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8" name="Google Shape;978;p60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9" name="Google Shape;979;p60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80" name="Google Shape;980;p60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1" name="Google Shape;981;p60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2" name="Google Shape;982;p60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3" name="Google Shape;983;p60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4" name="Google Shape;984;p60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5" name="Google Shape;985;p60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6" name="Google Shape;986;p60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7" name="Google Shape;987;p60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8" name="Google Shape;988;p60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9" name="Google Shape;989;p60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0" name="Google Shape;990;p60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1" name="Google Shape;991;p60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2" name="Google Shape;992;p60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3" name="Google Shape;993;p60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4" name="Google Shape;994;p60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5" name="Google Shape;995;p60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6" name="Google Shape;996;p60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7" name="Google Shape;997;p60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8" name="Google Shape;998;p60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9" name="Google Shape;999;p60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1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1005" name="Google Shape;1005;p61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006" name="Google Shape;1006;p61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007" name="Google Shape;1007;p61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008" name="Google Shape;1008;p61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009" name="Google Shape;1009;p61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0" name="Google Shape;1010;p61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1" name="Google Shape;1011;p61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2" name="Google Shape;1012;p61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3" name="Google Shape;1013;p61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4" name="Google Shape;1014;p61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15" name="Google Shape;1015;p61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6" name="Google Shape;1016;p61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7" name="Google Shape;1017;p61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8" name="Google Shape;1018;p61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9" name="Google Shape;1019;p61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0" name="Google Shape;1020;p61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1" name="Google Shape;1021;p61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2" name="Google Shape;1022;p61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3" name="Google Shape;1023;p61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4" name="Google Shape;1024;p61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5" name="Google Shape;1025;p61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6" name="Google Shape;1026;p61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7" name="Google Shape;1027;p61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8" name="Google Shape;1028;p61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9" name="Google Shape;1029;p61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30" name="Google Shape;1030;p61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31" name="Google Shape;1031;p61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32" name="Google Shape;1032;p61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33" name="Google Shape;1033;p61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34" name="Google Shape;1034;p61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2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1040" name="Google Shape;1040;p62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041" name="Google Shape;1041;p62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042" name="Google Shape;1042;p62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043" name="Google Shape;1043;p62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044" name="Google Shape;1044;p62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5" name="Google Shape;1045;p62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6" name="Google Shape;1046;p62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7" name="Google Shape;1047;p62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8" name="Google Shape;1048;p62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9" name="Google Shape;1049;p62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0" name="Google Shape;1050;p62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1" name="Google Shape;1051;p62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2" name="Google Shape;1052;p62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3" name="Google Shape;1053;p62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4" name="Google Shape;1054;p62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5" name="Google Shape;1055;p62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6" name="Google Shape;1056;p62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7" name="Google Shape;1057;p62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8" name="Google Shape;1058;p62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9" name="Google Shape;1059;p62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0" name="Google Shape;1060;p62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1" name="Google Shape;1061;p62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2" name="Google Shape;1062;p62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3" name="Google Shape;1063;p62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4" name="Google Shape;1064;p62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5" name="Google Shape;1065;p62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6" name="Google Shape;1066;p62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7" name="Google Shape;1067;p62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8" name="Google Shape;1068;p62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9" name="Google Shape;1069;p62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63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1075" name="Google Shape;1075;p63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076" name="Google Shape;1076;p63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077" name="Google Shape;1077;p63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078" name="Google Shape;1078;p63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079" name="Google Shape;1079;p63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0" name="Google Shape;1080;p63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1" name="Google Shape;1081;p63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2" name="Google Shape;1082;p63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3" name="Google Shape;1083;p63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4" name="Google Shape;1084;p63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85" name="Google Shape;1085;p63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6" name="Google Shape;1086;p63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7" name="Google Shape;1087;p63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8" name="Google Shape;1088;p63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9" name="Google Shape;1089;p63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0" name="Google Shape;1090;p63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1" name="Google Shape;1091;p63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2" name="Google Shape;1092;p63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3" name="Google Shape;1093;p63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4" name="Google Shape;1094;p63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5" name="Google Shape;1095;p63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6" name="Google Shape;1096;p63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7" name="Google Shape;1097;p63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8" name="Google Shape;1098;p63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9" name="Google Shape;1099;p63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0" name="Google Shape;1100;p63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1" name="Google Shape;1101;p63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2" name="Google Shape;1102;p63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3" name="Google Shape;1103;p63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4" name="Google Shape;1104;p63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4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1110" name="Google Shape;1110;p64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111" name="Google Shape;1111;p64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112" name="Google Shape;1112;p64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113" name="Google Shape;1113;p64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114" name="Google Shape;1114;p64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5" name="Google Shape;1115;p64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6" name="Google Shape;1116;p64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7" name="Google Shape;1117;p64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8" name="Google Shape;1118;p64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9" name="Google Shape;1119;p64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20" name="Google Shape;1120;p64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1" name="Google Shape;1121;p64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2" name="Google Shape;1122;p64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3" name="Google Shape;1123;p64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4" name="Google Shape;1124;p64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5" name="Google Shape;1125;p64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6" name="Google Shape;1126;p64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7" name="Google Shape;1127;p64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8" name="Google Shape;1128;p64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9" name="Google Shape;1129;p64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0" name="Google Shape;1130;p64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1" name="Google Shape;1131;p64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2" name="Google Shape;1132;p64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3" name="Google Shape;1133;p64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4" name="Google Shape;1134;p64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5" name="Google Shape;1135;p64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6" name="Google Shape;1136;p64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7" name="Google Shape;1137;p64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8" name="Google Shape;1138;p64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9" name="Google Shape;1139;p64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65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1145" name="Google Shape;1145;p65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146" name="Google Shape;1146;p65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147" name="Google Shape;1147;p65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148" name="Google Shape;1148;p65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149" name="Google Shape;1149;p65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0" name="Google Shape;1150;p65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1" name="Google Shape;1151;p65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2" name="Google Shape;1152;p65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3" name="Google Shape;1153;p65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4" name="Google Shape;1154;p65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5" name="Google Shape;1155;p65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6" name="Google Shape;1156;p65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7" name="Google Shape;1157;p65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8" name="Google Shape;1158;p65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9" name="Google Shape;1159;p65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0" name="Google Shape;1160;p65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1" name="Google Shape;1161;p65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2" name="Google Shape;1162;p65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3" name="Google Shape;1163;p65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4" name="Google Shape;1164;p65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5" name="Google Shape;1165;p65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6" name="Google Shape;1166;p65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7" name="Google Shape;1167;p65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8" name="Google Shape;1168;p65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9" name="Google Shape;1169;p65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0" name="Google Shape;1170;p65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1" name="Google Shape;1171;p65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2" name="Google Shape;1172;p65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3" name="Google Shape;1173;p65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4" name="Google Shape;1174;p65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6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1180" name="Google Shape;1180;p66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181" name="Google Shape;1181;p66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182" name="Google Shape;1182;p66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183" name="Google Shape;1183;p66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184" name="Google Shape;1184;p66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5" name="Google Shape;1185;p66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6" name="Google Shape;1186;p66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7" name="Google Shape;1187;p66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8" name="Google Shape;1188;p66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9" name="Google Shape;1189;p66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0" name="Google Shape;1190;p66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1" name="Google Shape;1191;p66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2" name="Google Shape;1192;p66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3" name="Google Shape;1193;p66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4" name="Google Shape;1194;p66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5" name="Google Shape;1195;p66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6" name="Google Shape;1196;p66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7" name="Google Shape;1197;p66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8" name="Google Shape;1198;p66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9" name="Google Shape;1199;p66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0" name="Google Shape;1200;p66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1" name="Google Shape;1201;p66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2" name="Google Shape;1202;p66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3" name="Google Shape;1203;p66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4" name="Google Shape;1204;p66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5" name="Google Shape;1205;p66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6" name="Google Shape;1206;p66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7" name="Google Shape;1207;p66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8" name="Google Shape;1208;p66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9" name="Google Shape;1209;p66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67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Building a heap</a:t>
            </a:r>
            <a:endParaRPr sz="3960"/>
          </a:p>
        </p:txBody>
      </p:sp>
      <p:sp>
        <p:nvSpPr>
          <p:cNvPr id="1215" name="Google Shape;1215;p67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216" name="Google Shape;1216;p67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217" name="Google Shape;1217;p67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218" name="Google Shape;1218;p67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219" name="Google Shape;1219;p67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0" name="Google Shape;1220;p67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1" name="Google Shape;1221;p67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2" name="Google Shape;1222;p67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3" name="Google Shape;1223;p67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4" name="Google Shape;1224;p67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5" name="Google Shape;1225;p67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6" name="Google Shape;1226;p67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7" name="Google Shape;1227;p67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8" name="Google Shape;1228;p67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9" name="Google Shape;1229;p67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0" name="Google Shape;1230;p67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1" name="Google Shape;1231;p67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2" name="Google Shape;1232;p67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3" name="Google Shape;1233;p67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4" name="Google Shape;1234;p67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5" name="Google Shape;1235;p67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6" name="Google Shape;1236;p67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7" name="Google Shape;1237;p67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8" name="Google Shape;1238;p67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9" name="Google Shape;1239;p67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0" name="Google Shape;1240;p67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1" name="Google Shape;1241;p67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2" name="Google Shape;1242;p67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3" name="Google Shape;1243;p67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4" name="Google Shape;1244;p67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68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1250" name="Google Shape;1250;p68"/>
          <p:cNvSpPr txBox="1"/>
          <p:nvPr/>
        </p:nvSpPr>
        <p:spPr>
          <a:xfrm>
            <a:off x="223168" y="2905035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BuildMaxHeap(A)</a:t>
            </a:r>
            <a:endParaRPr lang="en-US" sz="1800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heap-size[A] ← length[A]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⎣length[A]/2⎦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1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800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80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MaxHeapify(A, i)</a:t>
            </a:r>
            <a:endParaRPr lang="en-US" sz="18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1" name="Google Shape;1251;p68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Time complexity of Building a Heap</a:t>
            </a:r>
            <a:endParaRPr sz="3960"/>
          </a:p>
        </p:txBody>
      </p:sp>
      <p:graphicFrame>
        <p:nvGraphicFramePr>
          <p:cNvPr id="1252" name="Google Shape;1252;p68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253" name="Google Shape;1253;p68"/>
          <p:cNvSpPr txBox="1"/>
          <p:nvPr/>
        </p:nvSpPr>
        <p:spPr>
          <a:xfrm>
            <a:off x="233014" y="5704436"/>
            <a:ext cx="82499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Time complexity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	O(N logN) [Loose upper bound]</a:t>
            </a:r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We can prove that it is O(N) [tighter upper bound]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4" name="Google Shape;1254;p68"/>
          <p:cNvSpPr txBox="1"/>
          <p:nvPr/>
        </p:nvSpPr>
        <p:spPr>
          <a:xfrm>
            <a:off x="3499689" y="2838687"/>
            <a:ext cx="9637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O(N)</a:t>
            </a:r>
            <a:endParaRPr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55" name="Google Shape;1255;p68"/>
          <p:cNvSpPr txBox="1"/>
          <p:nvPr/>
        </p:nvSpPr>
        <p:spPr>
          <a:xfrm>
            <a:off x="3138257" y="5019666"/>
            <a:ext cx="142218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O(logN)</a:t>
            </a:r>
            <a:endParaRPr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56" name="Google Shape;1256;p68"/>
          <p:cNvSpPr/>
          <p:nvPr/>
        </p:nvSpPr>
        <p:spPr>
          <a:xfrm>
            <a:off x="535115" y="3701740"/>
            <a:ext cx="2964574" cy="309783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57" name="Google Shape;1257;p68"/>
          <p:cNvCxnSpPr/>
          <p:nvPr/>
        </p:nvCxnSpPr>
        <p:spPr>
          <a:xfrm flipH="1">
            <a:off x="3369514" y="3330485"/>
            <a:ext cx="236572" cy="3349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58" name="Google Shape;1258;p68"/>
          <p:cNvSpPr/>
          <p:nvPr/>
        </p:nvSpPr>
        <p:spPr>
          <a:xfrm>
            <a:off x="717081" y="4096695"/>
            <a:ext cx="2108006" cy="286083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59" name="Google Shape;1259;p68"/>
          <p:cNvCxnSpPr>
            <a:endCxn id="1258" idx="2"/>
          </p:cNvCxnSpPr>
          <p:nvPr/>
        </p:nvCxnSpPr>
        <p:spPr>
          <a:xfrm rot="10800000">
            <a:off x="1771084" y="4382778"/>
            <a:ext cx="1060800" cy="44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60" name="Google Shape;1260;p68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261" name="Google Shape;1261;p68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2" name="Google Shape;1262;p68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3" name="Google Shape;1263;p68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4" name="Google Shape;1264;p68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5" name="Google Shape;1265;p68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6" name="Google Shape;1266;p68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67" name="Google Shape;1267;p68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8" name="Google Shape;1268;p68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9" name="Google Shape;1269;p68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0" name="Google Shape;1270;p68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1" name="Google Shape;1271;p68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2" name="Google Shape;1272;p68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3" name="Google Shape;1273;p68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4" name="Google Shape;1274;p68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5" name="Google Shape;1275;p68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6" name="Google Shape;1276;p68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7" name="Google Shape;1277;p68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8" name="Google Shape;1278;p68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9" name="Google Shape;1279;p68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0" name="Google Shape;1280;p68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1" name="Google Shape;1281;p68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2" name="Google Shape;1282;p68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3" name="Google Shape;1283;p68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4" name="Google Shape;1284;p68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5" name="Google Shape;1285;p68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6" name="Google Shape;1286;p68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69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Time complexity of Building a Heap</a:t>
            </a:r>
            <a:endParaRPr sz="3960"/>
          </a:p>
        </p:txBody>
      </p:sp>
      <p:pic>
        <p:nvPicPr>
          <p:cNvPr id="1292" name="Google Shape;1292;p6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0720" y="1066456"/>
            <a:ext cx="8135591" cy="515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70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Time complexity of Building a Heap</a:t>
            </a:r>
            <a:endParaRPr sz="3960"/>
          </a:p>
        </p:txBody>
      </p:sp>
      <p:pic>
        <p:nvPicPr>
          <p:cNvPr id="1298" name="Google Shape;1298;p7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3007" y="815016"/>
            <a:ext cx="8545778" cy="4329861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0" name="Google Shape;1300;p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1" name="Google Shape;1301;p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2" name="Google Shape;1302;p70"/>
          <p:cNvSpPr/>
          <p:nvPr/>
        </p:nvSpPr>
        <p:spPr>
          <a:xfrm>
            <a:off x="0" y="11525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03" name="Google Shape;1303;p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04" name="Google Shape;1304;p7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86438" y="5183436"/>
            <a:ext cx="5915025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70"/>
          <p:cNvSpPr/>
          <p:nvPr/>
        </p:nvSpPr>
        <p:spPr>
          <a:xfrm>
            <a:off x="0" y="11525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06" name="Google Shape;1306;p70"/>
          <p:cNvSpPr txBox="1"/>
          <p:nvPr/>
        </p:nvSpPr>
        <p:spPr>
          <a:xfrm>
            <a:off x="2599982" y="6092328"/>
            <a:ext cx="43957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Therefore </a:t>
            </a:r>
            <a:r>
              <a:rPr lang="en-US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T(n) ≤ 2n = O(n)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71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1312" name="Google Shape;1312;p71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313" name="Google Shape;1313;p71"/>
          <p:cNvSpPr/>
          <p:nvPr/>
        </p:nvSpPr>
        <p:spPr>
          <a:xfrm>
            <a:off x="1459706" y="2121693"/>
            <a:ext cx="6189662" cy="2873375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 u="sng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HeapSort(A)</a:t>
            </a:r>
            <a:endParaRPr lang="en-US" sz="2400" u="sng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 Build-Max-Heap(A)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 </a:t>
            </a: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 ← length[A] </a:t>
            </a:r>
            <a:r>
              <a:rPr lang="en-US" sz="2400" b="1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downto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      </a:t>
            </a: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exchange </a:t>
            </a:r>
            <a:r>
              <a:rPr lang="en-US" sz="20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A[1] ↔ A[i]</a:t>
            </a: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             heap-size[A] ← heap-size[A] – 1</a:t>
            </a:r>
            <a:endParaRPr lang="en-US" sz="24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1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             MaxHeapify(A, 1)</a:t>
            </a:r>
            <a:endParaRPr sz="20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aseline="30000">
              <a:solidFill>
                <a:srgbClr val="01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72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319" name="Google Shape;1319;p72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320" name="Google Shape;1320;p72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pSp>
        <p:nvGrpSpPr>
          <p:cNvPr id="1321" name="Google Shape;1321;p72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322" name="Google Shape;1322;p72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3" name="Google Shape;1323;p72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4" name="Google Shape;1324;p72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5" name="Google Shape;1325;p72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6" name="Google Shape;1326;p72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7" name="Google Shape;1327;p72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28" name="Google Shape;1328;p72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9" name="Google Shape;1329;p72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0" name="Google Shape;1330;p72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1" name="Google Shape;1331;p72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2" name="Google Shape;1332;p72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3" name="Google Shape;1333;p72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4" name="Google Shape;1334;p72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5" name="Google Shape;1335;p72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6" name="Google Shape;1336;p72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7" name="Google Shape;1337;p72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8" name="Google Shape;1338;p72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9" name="Google Shape;1339;p72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0" name="Google Shape;1340;p72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1" name="Google Shape;1341;p72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2" name="Google Shape;1342;p72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3" name="Google Shape;1343;p72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4" name="Google Shape;1344;p72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5" name="Google Shape;1345;p72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6" name="Google Shape;1346;p72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7" name="Google Shape;1347;p72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73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353" name="Google Shape;1353;p73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1354" name="Google Shape;1354;p73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355" name="Google Shape;1355;p73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pSp>
        <p:nvGrpSpPr>
          <p:cNvPr id="1356" name="Google Shape;1356;p73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357" name="Google Shape;1357;p73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8" name="Google Shape;1358;p73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9" name="Google Shape;1359;p73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0" name="Google Shape;1360;p73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1" name="Google Shape;1361;p73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2" name="Google Shape;1362;p73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63" name="Google Shape;1363;p73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4" name="Google Shape;1364;p73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5" name="Google Shape;1365;p73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6" name="Google Shape;1366;p73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7" name="Google Shape;1367;p73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8" name="Google Shape;1368;p73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9" name="Google Shape;1369;p73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0" name="Google Shape;1370;p73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1" name="Google Shape;1371;p73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2" name="Google Shape;1372;p73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73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73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5" name="Google Shape;1375;p73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6" name="Google Shape;1376;p73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7" name="Google Shape;1377;p73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8" name="Google Shape;1378;p73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9" name="Google Shape;1379;p73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0" name="Google Shape;1380;p73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1" name="Google Shape;1381;p73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2" name="Google Shape;1382;p73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74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388" name="Google Shape;1388;p74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1389" name="Google Shape;1389;p74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390" name="Google Shape;1390;p74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391" name="Google Shape;1391;p74"/>
          <p:cNvSpPr/>
          <p:nvPr/>
        </p:nvSpPr>
        <p:spPr>
          <a:xfrm>
            <a:off x="709445" y="3465731"/>
            <a:ext cx="2163651" cy="320675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392" name="Google Shape;1392;p74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393" name="Google Shape;1393;p74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4" name="Google Shape;1394;p74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5" name="Google Shape;1395;p74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6" name="Google Shape;1396;p74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7" name="Google Shape;1397;p74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8" name="Google Shape;1398;p74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99" name="Google Shape;1399;p74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0" name="Google Shape;1400;p74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1" name="Google Shape;1401;p74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2" name="Google Shape;1402;p74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3" name="Google Shape;1403;p74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4" name="Google Shape;1404;p74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5" name="Google Shape;1405;p74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6" name="Google Shape;1406;p74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7" name="Google Shape;1407;p74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8" name="Google Shape;1408;p74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9" name="Google Shape;1409;p74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0" name="Google Shape;1410;p74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1" name="Google Shape;1411;p74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2" name="Google Shape;1412;p74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3" name="Google Shape;1413;p74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4" name="Google Shape;1414;p74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5" name="Google Shape;1415;p74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6" name="Google Shape;1416;p74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7" name="Google Shape;1417;p74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8" name="Google Shape;1418;p74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75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424" name="Google Shape;1424;p75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1425" name="Google Shape;1425;p75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426" name="Google Shape;1426;p75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427" name="Google Shape;1427;p75"/>
          <p:cNvSpPr/>
          <p:nvPr/>
        </p:nvSpPr>
        <p:spPr>
          <a:xfrm>
            <a:off x="709445" y="3465731"/>
            <a:ext cx="2163651" cy="320675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428" name="Google Shape;1428;p75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429" name="Google Shape;1429;p75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0" name="Google Shape;1430;p75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1" name="Google Shape;1431;p75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2" name="Google Shape;1432;p75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3" name="Google Shape;1433;p75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4" name="Google Shape;1434;p75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35" name="Google Shape;1435;p75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6" name="Google Shape;1436;p75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7" name="Google Shape;1437;p75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8" name="Google Shape;1438;p75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9" name="Google Shape;1439;p75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0" name="Google Shape;1440;p75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1" name="Google Shape;1441;p75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2" name="Google Shape;1442;p75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3" name="Google Shape;1443;p75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4" name="Google Shape;1444;p75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5" name="Google Shape;1445;p75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6" name="Google Shape;1446;p75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7" name="Google Shape;1447;p75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8" name="Google Shape;1448;p75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9" name="Google Shape;1449;p75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0" name="Google Shape;1450;p75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1" name="Google Shape;1451;p75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2" name="Google Shape;1452;p75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75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75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76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460" name="Google Shape;1460;p76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461" name="Google Shape;1461;p76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462" name="Google Shape;1462;p76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3" name="Google Shape;1463;p76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464" name="Google Shape;1464;p76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465" name="Google Shape;1465;p76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6" name="Google Shape;1466;p76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7" name="Google Shape;1467;p76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8" name="Google Shape;1468;p76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9" name="Google Shape;1469;p76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0" name="Google Shape;1470;p76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1" name="Google Shape;1471;p76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2" name="Google Shape;1472;p76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3" name="Google Shape;1473;p76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4" name="Google Shape;1474;p76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5" name="Google Shape;1475;p76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6" name="Google Shape;1476;p76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7" name="Google Shape;1477;p76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8" name="Google Shape;1478;p76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9" name="Google Shape;1479;p76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0" name="Google Shape;1480;p76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1" name="Google Shape;1481;p76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2" name="Google Shape;1482;p76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3" name="Google Shape;1483;p76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4" name="Google Shape;1484;p76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5" name="Google Shape;1485;p76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6" name="Google Shape;1486;p76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7" name="Google Shape;1487;p76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8" name="Google Shape;1488;p76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9" name="Google Shape;1489;p76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0" name="Google Shape;1490;p76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77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496" name="Google Shape;1496;p77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497" name="Google Shape;1497;p77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498" name="Google Shape;1498;p77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9" name="Google Shape;1499;p77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500" name="Google Shape;1500;p77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501" name="Google Shape;1501;p77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2" name="Google Shape;1502;p77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3" name="Google Shape;1503;p77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4" name="Google Shape;1504;p77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5" name="Google Shape;1505;p77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6" name="Google Shape;1506;p77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7" name="Google Shape;1507;p77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8" name="Google Shape;1508;p77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9" name="Google Shape;1509;p77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0" name="Google Shape;1510;p77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1" name="Google Shape;1511;p77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2" name="Google Shape;1512;p77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3" name="Google Shape;1513;p77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4" name="Google Shape;1514;p77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5" name="Google Shape;1515;p77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6" name="Google Shape;1516;p77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7" name="Google Shape;1517;p77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8" name="Google Shape;1518;p77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9" name="Google Shape;1519;p77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0" name="Google Shape;1520;p77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1" name="Google Shape;1521;p77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2" name="Google Shape;1522;p77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3" name="Google Shape;1523;p77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4" name="Google Shape;1524;p77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5" name="Google Shape;1525;p77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6" name="Google Shape;1526;p77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527" name="Google Shape;1527;p77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i=10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78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533" name="Google Shape;1533;p78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534" name="Google Shape;1534;p78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535" name="Google Shape;1535;p78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6" name="Google Shape;1536;p78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537" name="Google Shape;1537;p78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538" name="Google Shape;1538;p78"/>
            <p:cNvCxnSpPr/>
            <p:nvPr/>
          </p:nvCxnSpPr>
          <p:spPr>
            <a:xfrm rot="10800000" flipH="1">
              <a:off x="851" y="1653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" name="Google Shape;1539;p78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0" name="Google Shape;1540;p78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" name="Google Shape;1541;p78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" name="Google Shape;1542;p78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3" name="Google Shape;1543;p78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44" name="Google Shape;1544;p78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5" name="Google Shape;1545;p78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6" name="Google Shape;1546;p78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7" name="Google Shape;1547;p78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8" name="Google Shape;1548;p78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9" name="Google Shape;1549;p78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0" name="Google Shape;1550;p78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1" name="Google Shape;1551;p78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2" name="Google Shape;1552;p78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3" name="Google Shape;1553;p78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4" name="Google Shape;1554;p78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5" name="Google Shape;1555;p78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6" name="Google Shape;1556;p78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7" name="Google Shape;1557;p78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8" name="Google Shape;1558;p78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9" name="Google Shape;1559;p78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0" name="Google Shape;1560;p78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1" name="Google Shape;1561;p78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2" name="Google Shape;1562;p78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3" name="Google Shape;1563;p78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564" name="Google Shape;1564;p78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i=10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79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570" name="Google Shape;1570;p79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571" name="Google Shape;1571;p79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572" name="Google Shape;1572;p79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3" name="Google Shape;1573;p79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574" name="Google Shape;1574;p79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575" name="Google Shape;1575;p79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6" name="Google Shape;1576;p79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7" name="Google Shape;1577;p79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8" name="Google Shape;1578;p79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9" name="Google Shape;1579;p79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80" name="Google Shape;1580;p79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1" name="Google Shape;1581;p79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2" name="Google Shape;1582;p79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3" name="Google Shape;1583;p79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4" name="Google Shape;1584;p79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5" name="Google Shape;1585;p79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6" name="Google Shape;1586;p79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7" name="Google Shape;1587;p79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8" name="Google Shape;1588;p79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9" name="Google Shape;1589;p79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0" name="Google Shape;1590;p79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1" name="Google Shape;1591;p79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2" name="Google Shape;1592;p79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3" name="Google Shape;1593;p79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4" name="Google Shape;1594;p79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5" name="Google Shape;1595;p79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6" name="Google Shape;1596;p79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7" name="Google Shape;1597;p79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8" name="Google Shape;1598;p79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99" name="Google Shape;1599;p79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600" name="Google Shape;1600;p79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i=10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80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606" name="Google Shape;1606;p80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607" name="Google Shape;1607;p80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608" name="Google Shape;1608;p80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9" name="Google Shape;1609;p8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610" name="Google Shape;1610;p80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611" name="Google Shape;1611;p80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2" name="Google Shape;1612;p80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3" name="Google Shape;1613;p80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4" name="Google Shape;1614;p80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5" name="Google Shape;1615;p80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16" name="Google Shape;1616;p80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17" name="Google Shape;1617;p80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18" name="Google Shape;1618;p80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19" name="Google Shape;1619;p80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0" name="Google Shape;1620;p80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1" name="Google Shape;1621;p80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2" name="Google Shape;1622;p80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3" name="Google Shape;1623;p80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4" name="Google Shape;1624;p80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5" name="Google Shape;1625;p80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6" name="Google Shape;1626;p80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7" name="Google Shape;1627;p80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8" name="Google Shape;1628;p80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29" name="Google Shape;1629;p80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30" name="Google Shape;1630;p80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31" name="Google Shape;1631;p80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32" name="Google Shape;1632;p80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33" name="Google Shape;1633;p80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34" name="Google Shape;1634;p80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35" name="Google Shape;1635;p80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636" name="Google Shape;1636;p80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i=10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81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642" name="Google Shape;1642;p81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643" name="Google Shape;1643;p81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644" name="Google Shape;1644;p81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5" name="Google Shape;1645;p81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646" name="Google Shape;1646;p81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647" name="Google Shape;1647;p81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8" name="Google Shape;1648;p81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9" name="Google Shape;1649;p81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0" name="Google Shape;1650;p81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1" name="Google Shape;1651;p81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52" name="Google Shape;1652;p81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3" name="Google Shape;1653;p81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4" name="Google Shape;1654;p81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5" name="Google Shape;1655;p81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6" name="Google Shape;1656;p81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7" name="Google Shape;1657;p81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8" name="Google Shape;1658;p81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59" name="Google Shape;1659;p81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0" name="Google Shape;1660;p81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1" name="Google Shape;1661;p81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2" name="Google Shape;1662;p81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3" name="Google Shape;1663;p81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4" name="Google Shape;1664;p81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5" name="Google Shape;1665;p81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6" name="Google Shape;1666;p81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7" name="Google Shape;1667;p81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8" name="Google Shape;1668;p81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69" name="Google Shape;1669;p81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70" name="Google Shape;1670;p81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71" name="Google Shape;1671;p81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672" name="Google Shape;1672;p8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i=10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82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678" name="Google Shape;1678;p82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679" name="Google Shape;1679;p82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680" name="Google Shape;1680;p82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1" name="Google Shape;1681;p82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682" name="Google Shape;1682;p82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683" name="Google Shape;1683;p82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4" name="Google Shape;1684;p82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5" name="Google Shape;1685;p82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6" name="Google Shape;1686;p82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7" name="Google Shape;1687;p82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88" name="Google Shape;1688;p82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89" name="Google Shape;1689;p82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0" name="Google Shape;1690;p82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1" name="Google Shape;1691;p82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2" name="Google Shape;1692;p82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3" name="Google Shape;1693;p82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4" name="Google Shape;1694;p82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5" name="Google Shape;1695;p82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6" name="Google Shape;1696;p82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7" name="Google Shape;1697;p82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8" name="Google Shape;1698;p82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9" name="Google Shape;1699;p82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0" name="Google Shape;1700;p82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1" name="Google Shape;1701;p82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2" name="Google Shape;1702;p82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3" name="Google Shape;1703;p82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4" name="Google Shape;1704;p82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5" name="Google Shape;1705;p82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6" name="Google Shape;1706;p82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7" name="Google Shape;1707;p82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708" name="Google Shape;1708;p82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i=10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83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714" name="Google Shape;1714;p83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715" name="Google Shape;1715;p83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716" name="Google Shape;1716;p83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7" name="Google Shape;1717;p83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718" name="Google Shape;1718;p83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719" name="Google Shape;1719;p83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0" name="Google Shape;1720;p83"/>
            <p:cNvCxnSpPr/>
            <p:nvPr/>
          </p:nvCxnSpPr>
          <p:spPr>
            <a:xfrm rot="5400000" flipH="1">
              <a:off x="417" y="161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1" name="Google Shape;1721;p83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2" name="Google Shape;1722;p83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3" name="Google Shape;1723;p83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24" name="Google Shape;1724;p83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25" name="Google Shape;1725;p83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26" name="Google Shape;1726;p83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27" name="Google Shape;1727;p83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28" name="Google Shape;1728;p83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29" name="Google Shape;1729;p83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0" name="Google Shape;1730;p83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1" name="Google Shape;1731;p83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2" name="Google Shape;1732;p83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3" name="Google Shape;1733;p83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4" name="Google Shape;1734;p83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5" name="Google Shape;1735;p83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6" name="Google Shape;1736;p83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7" name="Google Shape;1737;p83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8" name="Google Shape;1738;p83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9" name="Google Shape;1739;p83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40" name="Google Shape;1740;p83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41" name="Google Shape;1741;p83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42" name="Google Shape;1742;p83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43" name="Google Shape;1743;p83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744" name="Google Shape;1744;p8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i=10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84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750" name="Google Shape;1750;p84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751" name="Google Shape;1751;p84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752" name="Google Shape;1752;p84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i=9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1753" name="Google Shape;1753;p84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4" name="Google Shape;1754;p8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755" name="Google Shape;1755;p84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756" name="Google Shape;1756;p84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84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84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9" name="Google Shape;1759;p84"/>
            <p:cNvCxnSpPr/>
            <p:nvPr/>
          </p:nvCxnSpPr>
          <p:spPr>
            <a:xfrm rot="10800000" flipH="1">
              <a:off x="243" y="937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60" name="Google Shape;1760;p84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1" name="Google Shape;1761;p84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2" name="Google Shape;1762;p84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3" name="Google Shape;1763;p84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4" name="Google Shape;1764;p84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5" name="Google Shape;1765;p84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6" name="Google Shape;1766;p84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7" name="Google Shape;1767;p84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8" name="Google Shape;1768;p84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9" name="Google Shape;1769;p84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0" name="Google Shape;1770;p84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1" name="Google Shape;1771;p84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2" name="Google Shape;1772;p84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3" name="Google Shape;1773;p84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4" name="Google Shape;1774;p84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5" name="Google Shape;1775;p84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6" name="Google Shape;1776;p84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7" name="Google Shape;1777;p84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8" name="Google Shape;1778;p84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9" name="Google Shape;1779;p84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85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785" name="Google Shape;1785;p85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786" name="Google Shape;1786;p85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787" name="Google Shape;1787;p85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i=8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1788" name="Google Shape;1788;p85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9" name="Google Shape;1789;p85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790" name="Google Shape;1790;p85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791" name="Google Shape;1791;p85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2" name="Google Shape;1792;p85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3" name="Google Shape;1793;p85"/>
            <p:cNvCxnSpPr/>
            <p:nvPr/>
          </p:nvCxnSpPr>
          <p:spPr>
            <a:xfrm rot="5400000" flipH="1">
              <a:off x="1154" y="909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4" name="Google Shape;1794;p85"/>
            <p:cNvCxnSpPr/>
            <p:nvPr/>
          </p:nvCxnSpPr>
          <p:spPr>
            <a:xfrm rot="10800000" flipH="1">
              <a:off x="450" y="937"/>
              <a:ext cx="801" cy="7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95" name="Google Shape;1795;p85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6" name="Google Shape;1796;p85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7" name="Google Shape;1797;p85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8" name="Google Shape;1798;p85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9" name="Google Shape;1799;p85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0" name="Google Shape;1800;p85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1" name="Google Shape;1801;p85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2" name="Google Shape;1802;p85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3" name="Google Shape;1803;p85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4" name="Google Shape;1804;p85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5" name="Google Shape;1805;p85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6" name="Google Shape;1806;p85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7" name="Google Shape;1807;p85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8" name="Google Shape;1808;p85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9" name="Google Shape;1809;p85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0" name="Google Shape;1810;p85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1" name="Google Shape;1811;p85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2" name="Google Shape;1812;p85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3" name="Google Shape;1813;p85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4" name="Google Shape;1814;p85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86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820" name="Google Shape;1820;p86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821" name="Google Shape;1821;p86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822" name="Google Shape;1822;p86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i=7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1823" name="Google Shape;1823;p86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4" name="Google Shape;1824;p86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825" name="Google Shape;1825;p86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826" name="Google Shape;1826;p86"/>
            <p:cNvCxnSpPr/>
            <p:nvPr/>
          </p:nvCxnSpPr>
          <p:spPr>
            <a:xfrm rot="10800000" flipH="1">
              <a:off x="1318" y="1366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7" name="Google Shape;1827;p86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8" name="Google Shape;1828;p86"/>
            <p:cNvCxnSpPr/>
            <p:nvPr/>
          </p:nvCxnSpPr>
          <p:spPr>
            <a:xfrm rot="5400000" flipH="1">
              <a:off x="1160" y="903"/>
              <a:ext cx="533" cy="5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9" name="Google Shape;1829;p86"/>
            <p:cNvCxnSpPr/>
            <p:nvPr/>
          </p:nvCxnSpPr>
          <p:spPr>
            <a:xfrm rot="10800000" flipH="1">
              <a:off x="450" y="937"/>
              <a:ext cx="801" cy="7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30" name="Google Shape;1830;p86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1" name="Google Shape;1831;p86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2" name="Google Shape;1832;p86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3" name="Google Shape;1833;p86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4" name="Google Shape;1834;p86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5" name="Google Shape;1835;p86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6" name="Google Shape;1836;p86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7" name="Google Shape;1837;p86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8" name="Google Shape;1838;p86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39" name="Google Shape;1839;p86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0" name="Google Shape;1840;p86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1" name="Google Shape;1841;p86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2" name="Google Shape;1842;p86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3" name="Google Shape;1843;p86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4" name="Google Shape;1844;p86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5" name="Google Shape;1845;p86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6" name="Google Shape;1846;p86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7" name="Google Shape;1847;p86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8" name="Google Shape;1848;p86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49" name="Google Shape;1849;p86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87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855" name="Google Shape;1855;p87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856" name="Google Shape;1856;p87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857" name="Google Shape;1857;p87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i=6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1858" name="Google Shape;1858;p87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9" name="Google Shape;1859;p87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860" name="Google Shape;1860;p87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861" name="Google Shape;1861;p87"/>
            <p:cNvCxnSpPr/>
            <p:nvPr/>
          </p:nvCxnSpPr>
          <p:spPr>
            <a:xfrm rot="5400000" flipH="1">
              <a:off x="758" y="1361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2" name="Google Shape;1862;p87"/>
            <p:cNvCxnSpPr/>
            <p:nvPr/>
          </p:nvCxnSpPr>
          <p:spPr>
            <a:xfrm rot="5400000" flipH="1">
              <a:off x="1160" y="903"/>
              <a:ext cx="533" cy="5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3" name="Google Shape;1863;p87"/>
            <p:cNvCxnSpPr/>
            <p:nvPr/>
          </p:nvCxnSpPr>
          <p:spPr>
            <a:xfrm rot="10800000" flipH="1">
              <a:off x="450" y="937"/>
              <a:ext cx="801" cy="7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64" name="Google Shape;1864;p87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5" name="Google Shape;1865;p87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6" name="Google Shape;1866;p87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7" name="Google Shape;1867;p87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8" name="Google Shape;1868;p87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69" name="Google Shape;1869;p87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0" name="Google Shape;1870;p87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1" name="Google Shape;1871;p87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2" name="Google Shape;1872;p87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3" name="Google Shape;1873;p87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4" name="Google Shape;1874;p87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5" name="Google Shape;1875;p87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6" name="Google Shape;1876;p87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7" name="Google Shape;1877;p87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8" name="Google Shape;1878;p87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9" name="Google Shape;1879;p87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0" name="Google Shape;1880;p87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1" name="Google Shape;1881;p87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2" name="Google Shape;1882;p87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3" name="Google Shape;1883;p87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88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889" name="Google Shape;1889;p88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890" name="Google Shape;1890;p88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891" name="Google Shape;1891;p88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i=5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1892" name="Google Shape;1892;p88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3" name="Google Shape;1893;p88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894" name="Google Shape;1894;p88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895" name="Google Shape;1895;p88"/>
            <p:cNvCxnSpPr/>
            <p:nvPr/>
          </p:nvCxnSpPr>
          <p:spPr>
            <a:xfrm rot="5400000" flipH="1">
              <a:off x="1160" y="903"/>
              <a:ext cx="533" cy="5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6" name="Google Shape;1896;p88"/>
            <p:cNvCxnSpPr/>
            <p:nvPr/>
          </p:nvCxnSpPr>
          <p:spPr>
            <a:xfrm rot="10800000" flipH="1">
              <a:off x="450" y="937"/>
              <a:ext cx="801" cy="7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97" name="Google Shape;1897;p88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98" name="Google Shape;1898;p88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99" name="Google Shape;1899;p88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0" name="Google Shape;1900;p88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1" name="Google Shape;1901;p88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2" name="Google Shape;1902;p88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3" name="Google Shape;1903;p88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4" name="Google Shape;1904;p88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5" name="Google Shape;1905;p88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6" name="Google Shape;1906;p88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7" name="Google Shape;1907;p88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8" name="Google Shape;1908;p88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9" name="Google Shape;1909;p88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10" name="Google Shape;1910;p88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11" name="Google Shape;1911;p88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12" name="Google Shape;1912;p88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13" name="Google Shape;1913;p88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14" name="Google Shape;1914;p88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15" name="Google Shape;1915;p88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16" name="Google Shape;1916;p88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89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922" name="Google Shape;1922;p89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923" name="Google Shape;1923;p89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924" name="Google Shape;1924;p89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i=4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1925" name="Google Shape;1925;p89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6" name="Google Shape;1926;p89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927" name="Google Shape;1927;p89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928" name="Google Shape;1928;p89"/>
            <p:cNvCxnSpPr/>
            <p:nvPr/>
          </p:nvCxnSpPr>
          <p:spPr>
            <a:xfrm rot="5400000" flipH="1">
              <a:off x="1160" y="903"/>
              <a:ext cx="533" cy="5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89"/>
            <p:cNvCxnSpPr/>
            <p:nvPr/>
          </p:nvCxnSpPr>
          <p:spPr>
            <a:xfrm rot="10800000" flipH="1">
              <a:off x="761" y="937"/>
              <a:ext cx="490" cy="4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30" name="Google Shape;1930;p89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31" name="Google Shape;1931;p89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32" name="Google Shape;1932;p89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33" name="Google Shape;1933;p89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34" name="Google Shape;1934;p89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35" name="Google Shape;1935;p89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36" name="Google Shape;1936;p89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37" name="Google Shape;1937;p89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38" name="Google Shape;1938;p89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39" name="Google Shape;1939;p89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0" name="Google Shape;1940;p89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1" name="Google Shape;1941;p89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2" name="Google Shape;1942;p89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3" name="Google Shape;1943;p89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4" name="Google Shape;1944;p89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5" name="Google Shape;1945;p89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6" name="Google Shape;1946;p89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7" name="Google Shape;1947;p89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8" name="Google Shape;1948;p89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49" name="Google Shape;1949;p89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90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955" name="Google Shape;1955;p90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956" name="Google Shape;1956;p90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957" name="Google Shape;1957;p90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i=3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1958" name="Google Shape;1958;p90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9" name="Google Shape;1959;p9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960" name="Google Shape;1960;p90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cxnSp>
          <p:nvCxnSpPr>
            <p:cNvPr id="1961" name="Google Shape;1961;p90"/>
            <p:cNvCxnSpPr/>
            <p:nvPr/>
          </p:nvCxnSpPr>
          <p:spPr>
            <a:xfrm rot="10800000" flipH="1">
              <a:off x="761" y="937"/>
              <a:ext cx="490" cy="4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62" name="Google Shape;1962;p90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63" name="Google Shape;1963;p90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64" name="Google Shape;1964;p90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65" name="Google Shape;1965;p90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66" name="Google Shape;1966;p90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67" name="Google Shape;1967;p90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68" name="Google Shape;1968;p90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69" name="Google Shape;1969;p90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0" name="Google Shape;1970;p90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1" name="Google Shape;1971;p90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2" name="Google Shape;1972;p90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3" name="Google Shape;1973;p90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4" name="Google Shape;1974;p90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5" name="Google Shape;1975;p90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6" name="Google Shape;1976;p90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7" name="Google Shape;1977;p90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8" name="Google Shape;1978;p90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79" name="Google Shape;1979;p90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80" name="Google Shape;1980;p90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81" name="Google Shape;1981;p90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91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1987" name="Google Shape;1987;p91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1988" name="Google Shape;1988;p91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989" name="Google Shape;1989;p9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i=2</a:t>
            </a:r>
            <a:endParaRPr sz="18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1990" name="Google Shape;1990;p91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1" name="Google Shape;1991;p91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992" name="Google Shape;1992;p91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1993" name="Google Shape;1993;p91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94" name="Google Shape;1994;p91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95" name="Google Shape;1995;p91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96" name="Google Shape;1996;p91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97" name="Google Shape;1997;p91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98" name="Google Shape;1998;p91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99" name="Google Shape;1999;p91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0" name="Google Shape;2000;p91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1" name="Google Shape;2001;p91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2" name="Google Shape;2002;p91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3" name="Google Shape;2003;p91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4" name="Google Shape;2004;p91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5" name="Google Shape;2005;p91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6" name="Google Shape;2006;p91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7" name="Google Shape;2007;p91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8" name="Google Shape;2008;p91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9" name="Google Shape;2009;p91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10" name="Google Shape;2010;p91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11" name="Google Shape;2011;p91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12" name="Google Shape;2012;p91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92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2018" name="Google Shape;2018;p92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2019" name="Google Shape;2019;p92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020" name="Google Shape;2020;p92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1" name="Google Shape;2021;p92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022" name="Google Shape;2022;p92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2023" name="Google Shape;2023;p92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24" name="Google Shape;2024;p92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25" name="Google Shape;2025;p92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26" name="Google Shape;2026;p92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27" name="Google Shape;2027;p92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28" name="Google Shape;2028;p92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29" name="Google Shape;2029;p92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0" name="Google Shape;2030;p92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1" name="Google Shape;2031;p92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2" name="Google Shape;2032;p92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3" name="Google Shape;2033;p92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4" name="Google Shape;2034;p92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5" name="Google Shape;2035;p92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6" name="Google Shape;2036;p92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7" name="Google Shape;2037;p92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8" name="Google Shape;2038;p92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9" name="Google Shape;2039;p92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40" name="Google Shape;2040;p92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41" name="Google Shape;2041;p92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42" name="Google Shape;2042;p92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93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Heap Sort</a:t>
            </a:r>
            <a:endParaRPr sz="3960"/>
          </a:p>
        </p:txBody>
      </p:sp>
      <p:sp>
        <p:nvSpPr>
          <p:cNvPr id="2048" name="Google Shape;2048;p93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graphicFrame>
        <p:nvGraphicFramePr>
          <p:cNvPr id="2049" name="Google Shape;2049;p93"/>
          <p:cNvGraphicFramePr/>
          <p:nvPr/>
        </p:nvGraphicFramePr>
        <p:xfrm>
          <a:off x="1739648" y="1306848"/>
          <a:ext cx="5259500" cy="3000000"/>
        </p:xfrm>
        <a:graphic>
          <a:graphicData uri="http://schemas.openxmlformats.org/drawingml/2006/table">
            <a:tbl>
              <a:tblPr firstRow="1" bandRow="1">
                <a:noFill/>
                <a:tableStyleId>{9E541435-F421-4622-AACE-3CA97A5BBE3F}</a:tableStyleId>
              </a:tblPr>
              <a:tblGrid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  <a:gridCol w="5259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5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7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8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9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10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14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16</a:t>
                      </a:r>
                      <a:endParaRPr sz="18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050" name="Google Shape;2050;p93"/>
          <p:cNvSpPr txBox="1"/>
          <p:nvPr/>
        </p:nvSpPr>
        <p:spPr>
          <a:xfrm>
            <a:off x="414338" y="3141663"/>
            <a:ext cx="5334000" cy="221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 u="sng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HeapSort(A)</a:t>
            </a:r>
            <a:endParaRPr lang="en-US" sz="1665" u="sng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 Build-Max-Heap(A)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 ← length[A] </a:t>
            </a:r>
            <a:r>
              <a:rPr lang="en-US" sz="1665" b="1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downto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      </a:t>
            </a:r>
            <a:r>
              <a:rPr lang="en-US" sz="1665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exchange </a:t>
            </a:r>
            <a:r>
              <a:rPr lang="en-US" sz="1480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A[1] ↔ A[i]</a:t>
            </a: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             heap-size[A] ← heap-size[A] – 1</a:t>
            </a:r>
            <a:endParaRPr lang="en-US" sz="1665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0000"/>
              </a:buClr>
              <a:buSzPts val="1665"/>
              <a:buFont typeface="Noto Sans Symbols"/>
              <a:buNone/>
            </a:pPr>
            <a:r>
              <a:rPr lang="en-US" sz="1665">
                <a:solidFill>
                  <a:srgbClr val="01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          MaxHeapify(A, 1)</a:t>
            </a:r>
            <a:endParaRPr sz="148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" marR="0" lvl="0" indent="-18288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aseline="30000">
              <a:solidFill>
                <a:srgbClr val="01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1" name="Google Shape;2051;p93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2" name="Google Shape;2052;p93"/>
          <p:cNvSpPr/>
          <p:nvPr/>
        </p:nvSpPr>
        <p:spPr>
          <a:xfrm>
            <a:off x="709445" y="3465731"/>
            <a:ext cx="2163651" cy="320675"/>
          </a:xfrm>
          <a:prstGeom prst="rect">
            <a:avLst/>
          </a:prstGeom>
          <a:solidFill>
            <a:schemeClr val="accent1">
              <a:alpha val="1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3" name="Google Shape;2053;p93"/>
          <p:cNvSpPr txBox="1"/>
          <p:nvPr/>
        </p:nvSpPr>
        <p:spPr>
          <a:xfrm>
            <a:off x="3499689" y="2838687"/>
            <a:ext cx="9637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O(N)</a:t>
            </a:r>
            <a:endParaRPr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54" name="Google Shape;2054;p93"/>
          <p:cNvSpPr txBox="1"/>
          <p:nvPr/>
        </p:nvSpPr>
        <p:spPr>
          <a:xfrm>
            <a:off x="4927355" y="5766275"/>
            <a:ext cx="16818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O(NlogN)</a:t>
            </a:r>
            <a:endParaRPr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055" name="Google Shape;2055;p93"/>
          <p:cNvCxnSpPr/>
          <p:nvPr/>
        </p:nvCxnSpPr>
        <p:spPr>
          <a:xfrm flipH="1">
            <a:off x="2873096" y="3330485"/>
            <a:ext cx="732991" cy="1682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56" name="Google Shape;2056;p93"/>
          <p:cNvCxnSpPr/>
          <p:nvPr/>
        </p:nvCxnSpPr>
        <p:spPr>
          <a:xfrm rot="10800000">
            <a:off x="4191001" y="5145205"/>
            <a:ext cx="882210" cy="6210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57" name="Google Shape;2057;p93"/>
          <p:cNvSpPr txBox="1"/>
          <p:nvPr/>
        </p:nvSpPr>
        <p:spPr>
          <a:xfrm>
            <a:off x="689713" y="6069982"/>
            <a:ext cx="36559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Time complexity: 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8" name="Google Shape;2058;p93"/>
          <p:cNvSpPr txBox="1"/>
          <p:nvPr/>
        </p:nvSpPr>
        <p:spPr>
          <a:xfrm>
            <a:off x="2709134" y="5993038"/>
            <a:ext cx="16818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O(NlogN)</a:t>
            </a:r>
            <a:endParaRPr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2059" name="Google Shape;2059;p93"/>
          <p:cNvGrpSpPr/>
          <p:nvPr/>
        </p:nvGrpSpPr>
        <p:grpSpPr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2060" name="Google Shape;2060;p93"/>
            <p:cNvSpPr/>
            <p:nvPr/>
          </p:nvSpPr>
          <p:spPr>
            <a:xfrm>
              <a:off x="387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1" name="Google Shape;2061;p93"/>
            <p:cNvSpPr/>
            <p:nvPr/>
          </p:nvSpPr>
          <p:spPr>
            <a:xfrm>
              <a:off x="137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2" name="Google Shape;2062;p93"/>
            <p:cNvSpPr/>
            <p:nvPr/>
          </p:nvSpPr>
          <p:spPr>
            <a:xfrm>
              <a:off x="57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14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3" name="Google Shape;2063;p93"/>
            <p:cNvSpPr/>
            <p:nvPr/>
          </p:nvSpPr>
          <p:spPr>
            <a:xfrm>
              <a:off x="675" y="1273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4" name="Google Shape;2064;p93"/>
            <p:cNvSpPr/>
            <p:nvPr/>
          </p:nvSpPr>
          <p:spPr>
            <a:xfrm>
              <a:off x="963" y="1551"/>
              <a:ext cx="202" cy="202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5" name="Google Shape;2065;p93"/>
            <p:cNvSpPr/>
            <p:nvPr/>
          </p:nvSpPr>
          <p:spPr>
            <a:xfrm>
              <a:off x="819" y="180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6" name="Google Shape;2066;p93"/>
            <p:cNvSpPr/>
            <p:nvPr/>
          </p:nvSpPr>
          <p:spPr>
            <a:xfrm>
              <a:off x="1131" y="84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7" name="Google Shape;2067;p93"/>
            <p:cNvSpPr/>
            <p:nvPr/>
          </p:nvSpPr>
          <p:spPr>
            <a:xfrm>
              <a:off x="1537" y="1273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8" name="Google Shape;2068;p93"/>
            <p:cNvSpPr/>
            <p:nvPr/>
          </p:nvSpPr>
          <p:spPr>
            <a:xfrm>
              <a:off x="1213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9" name="Google Shape;2069;p93"/>
            <p:cNvSpPr/>
            <p:nvPr/>
          </p:nvSpPr>
          <p:spPr>
            <a:xfrm>
              <a:off x="1789" y="1551"/>
              <a:ext cx="202" cy="202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0" name="Google Shape;2070;p93"/>
            <p:cNvSpPr txBox="1"/>
            <p:nvPr/>
          </p:nvSpPr>
          <p:spPr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1" name="Google Shape;2071;p93"/>
            <p:cNvSpPr txBox="1"/>
            <p:nvPr/>
          </p:nvSpPr>
          <p:spPr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2" name="Google Shape;2072;p93"/>
            <p:cNvSpPr txBox="1"/>
            <p:nvPr/>
          </p:nvSpPr>
          <p:spPr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3" name="Google Shape;2073;p93"/>
            <p:cNvSpPr txBox="1"/>
            <p:nvPr/>
          </p:nvSpPr>
          <p:spPr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4" name="Google Shape;2074;p93"/>
            <p:cNvSpPr txBox="1"/>
            <p:nvPr/>
          </p:nvSpPr>
          <p:spPr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5" name="Google Shape;2075;p93"/>
            <p:cNvSpPr txBox="1"/>
            <p:nvPr/>
          </p:nvSpPr>
          <p:spPr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6" name="Google Shape;2076;p93"/>
            <p:cNvSpPr txBox="1"/>
            <p:nvPr/>
          </p:nvSpPr>
          <p:spPr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7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7" name="Google Shape;2077;p93"/>
            <p:cNvSpPr txBox="1"/>
            <p:nvPr/>
          </p:nvSpPr>
          <p:spPr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8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8" name="Google Shape;2078;p93"/>
            <p:cNvSpPr txBox="1"/>
            <p:nvPr/>
          </p:nvSpPr>
          <p:spPr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9" name="Google Shape;2079;p93"/>
            <p:cNvSpPr txBox="1"/>
            <p:nvPr/>
          </p:nvSpPr>
          <p:spPr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94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Priority Queues (PQ)</a:t>
            </a:r>
            <a:endParaRPr lang="en-US" sz="3960"/>
          </a:p>
        </p:txBody>
      </p:sp>
      <p:sp>
        <p:nvSpPr>
          <p:cNvPr id="2085" name="Google Shape;2085;p94"/>
          <p:cNvSpPr txBox="1"/>
          <p:nvPr>
            <p:ph type="body" idx="1"/>
          </p:nvPr>
        </p:nvSpPr>
        <p:spPr>
          <a:xfrm>
            <a:off x="358816" y="1053296"/>
            <a:ext cx="8472668" cy="481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en-US" sz="3300" b="1"/>
              <a:t>Properties:</a:t>
            </a:r>
            <a:endParaRPr lang="en-US" sz="3300" b="1"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/>
              <a:t>Each element is associated with a priority (key)</a:t>
            </a:r>
            <a:endParaRPr lang="en-US"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/>
              <a:t>The key with the highest (MAX-PQ)/lowest (MIN-PQ) key is extracted first</a:t>
            </a:r>
            <a:endParaRPr lang="en-US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An application: Schedule jobs on a shared resource</a:t>
            </a:r>
            <a:endParaRPr lang="en-US" sz="2800"/>
          </a:p>
          <a:p>
            <a:pPr marL="457200" lvl="1" indent="-152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/>
              <a:t>PQ keeps track of jobs and their relative priorities</a:t>
            </a:r>
            <a:endParaRPr lang="en-US" sz="2400"/>
          </a:p>
          <a:p>
            <a:pPr marL="457200" lvl="1" indent="-152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/>
              <a:t>When a job is finished or interrupted, highest priority job is selected from those pending using EXTRACT-MAX function</a:t>
            </a:r>
            <a:endParaRPr lang="en-US" sz="2400"/>
          </a:p>
          <a:p>
            <a:pPr marL="457200" lvl="1" indent="-152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/>
              <a:t>A new job can be added at any time using INSERT function</a:t>
            </a:r>
            <a:endParaRPr lang="en-US" sz="2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95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Implementation of Priority Queue</a:t>
            </a:r>
            <a:endParaRPr lang="en-US" sz="3960"/>
          </a:p>
        </p:txBody>
      </p:sp>
      <p:sp>
        <p:nvSpPr>
          <p:cNvPr id="2091" name="Google Shape;2091;p95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Sorted linked list: Simplest implementation</a:t>
            </a:r>
            <a:endParaRPr lang="en-US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INSERT</a:t>
            </a:r>
            <a:endParaRPr lang="en-US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O(n) time</a:t>
            </a:r>
            <a:endParaRPr lang="en-US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Scan the list to find place and splice in the new item</a:t>
            </a:r>
            <a:endParaRPr lang="en-US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EXTRACT-MAX </a:t>
            </a:r>
            <a:endParaRPr lang="en-US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O(1) time</a:t>
            </a:r>
            <a:endParaRPr lang="en-US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Take the first element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/>
              <a:t>►Fast extraction but slow insertion</a:t>
            </a:r>
            <a:endParaRPr b="1"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96"/>
          <p:cNvSpPr txBox="1"/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 panose="020F0502020204030204"/>
              <a:buNone/>
            </a:pPr>
            <a:r>
              <a:rPr lang="en-US" sz="3960"/>
              <a:t>Implementation of Priority Queue</a:t>
            </a:r>
            <a:endParaRPr lang="en-US" sz="3960"/>
          </a:p>
        </p:txBody>
      </p:sp>
      <p:sp>
        <p:nvSpPr>
          <p:cNvPr id="2097" name="Google Shape;2097;p96"/>
          <p:cNvSpPr txBox="1"/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Unsorted linked list: Simplest implementation</a:t>
            </a:r>
            <a:endParaRPr lang="en-US" sz="28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INSERT</a:t>
            </a:r>
            <a:endParaRPr lang="en-US" sz="240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O(1) time</a:t>
            </a:r>
            <a:endParaRPr lang="en-US" sz="200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Put the new item at front</a:t>
            </a:r>
            <a:endParaRPr lang="en-US" sz="20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EXTRACT-MAX </a:t>
            </a:r>
            <a:endParaRPr lang="en-US" sz="240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O(n) time</a:t>
            </a:r>
            <a:endParaRPr lang="en-US" sz="200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Scan the whole list</a:t>
            </a:r>
            <a:endParaRPr lang="en-US"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/>
              <a:t>►Fast insertion but slow extraction </a:t>
            </a:r>
            <a:endParaRPr lang="en-US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97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04" name="Google Shape;2104;p97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Operations </a:t>
            </a:r>
            <a:br>
              <a:rPr lang="en-US" sz="3600"/>
            </a:br>
            <a:r>
              <a:rPr lang="en-US" sz="3600"/>
              <a:t>on Priority Queues</a:t>
            </a:r>
            <a:endParaRPr lang="en-US" sz="3600"/>
          </a:p>
        </p:txBody>
      </p:sp>
      <p:sp>
        <p:nvSpPr>
          <p:cNvPr id="2105" name="Google Shape;2105;p97"/>
          <p:cNvSpPr txBox="1"/>
          <p:nvPr>
            <p:ph type="body" idx="1"/>
          </p:nvPr>
        </p:nvSpPr>
        <p:spPr>
          <a:xfrm>
            <a:off x="350838" y="1214438"/>
            <a:ext cx="8259762" cy="533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US"/>
              <a:t>Max-priority queues support the following operations:</a:t>
            </a:r>
            <a:endParaRPr lang="en-US"/>
          </a:p>
          <a:p>
            <a:pPr marL="74295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Char char="–"/>
            </a:pPr>
            <a:r>
              <a:rPr lang="en-US">
                <a:solidFill>
                  <a:schemeClr val="accent2"/>
                </a:solidFill>
              </a:rPr>
              <a:t>INSERT</a:t>
            </a:r>
            <a:r>
              <a:rPr lang="en-US">
                <a:solidFill>
                  <a:schemeClr val="accent2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(S, x)</a:t>
            </a:r>
            <a:r>
              <a:rPr lang="en-US"/>
              <a:t>: </a:t>
            </a:r>
            <a:r>
              <a:rPr lang="en-US" u="sng"/>
              <a:t>inserts</a:t>
            </a:r>
            <a:r>
              <a:rPr lang="en-US"/>
              <a:t> element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x</a:t>
            </a:r>
            <a:r>
              <a:rPr lang="en-US"/>
              <a:t> into set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S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74295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Char char="–"/>
            </a:pPr>
            <a:r>
              <a:rPr lang="en-US">
                <a:solidFill>
                  <a:schemeClr val="accent2"/>
                </a:solidFill>
              </a:rPr>
              <a:t>EXTRACT-MAX</a:t>
            </a:r>
            <a:r>
              <a:rPr lang="en-US">
                <a:solidFill>
                  <a:schemeClr val="accent2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(S)</a:t>
            </a:r>
            <a:r>
              <a:rPr lang="en-US"/>
              <a:t>: </a:t>
            </a:r>
            <a:r>
              <a:rPr lang="en-US" u="sng"/>
              <a:t>removes and returns</a:t>
            </a:r>
            <a:r>
              <a:rPr lang="en-US"/>
              <a:t> element of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S</a:t>
            </a:r>
            <a:r>
              <a:rPr lang="en-US"/>
              <a:t> with largest key</a:t>
            </a:r>
            <a:endParaRPr lang="en-US"/>
          </a:p>
          <a:p>
            <a:pPr marL="74295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Char char="–"/>
            </a:pPr>
            <a:r>
              <a:rPr lang="en-US">
                <a:solidFill>
                  <a:schemeClr val="accent2"/>
                </a:solidFill>
              </a:rPr>
              <a:t>MAXIMUM</a:t>
            </a:r>
            <a:r>
              <a:rPr lang="en-US">
                <a:solidFill>
                  <a:schemeClr val="accent2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(S)</a:t>
            </a:r>
            <a:r>
              <a:rPr lang="en-US"/>
              <a:t>: </a:t>
            </a:r>
            <a:r>
              <a:rPr lang="en-US" u="sng"/>
              <a:t>returns</a:t>
            </a:r>
            <a:r>
              <a:rPr lang="en-US"/>
              <a:t> element of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S</a:t>
            </a:r>
            <a:r>
              <a:rPr lang="en-US"/>
              <a:t> with largest key</a:t>
            </a:r>
            <a:endParaRPr lang="en-US"/>
          </a:p>
          <a:p>
            <a:pPr marL="74295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Char char="–"/>
            </a:pPr>
            <a:r>
              <a:rPr lang="en-US">
                <a:solidFill>
                  <a:schemeClr val="accent2"/>
                </a:solidFill>
              </a:rPr>
              <a:t>INCREASE-KEY</a:t>
            </a:r>
            <a:r>
              <a:rPr lang="en-US">
                <a:solidFill>
                  <a:schemeClr val="accent2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(S, x, k)</a:t>
            </a:r>
            <a:r>
              <a:rPr lang="en-US"/>
              <a:t>: </a:t>
            </a:r>
            <a:r>
              <a:rPr lang="en-US" u="sng"/>
              <a:t>increases</a:t>
            </a:r>
            <a:r>
              <a:rPr lang="en-US"/>
              <a:t> value of element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x</a:t>
            </a:r>
            <a:r>
              <a:rPr lang="en-US"/>
              <a:t>’s key to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k</a:t>
            </a:r>
            <a:r>
              <a:rPr lang="en-US"/>
              <a:t> (Assume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k ≥ x</a:t>
            </a:r>
            <a:r>
              <a:rPr lang="en-US"/>
              <a:t>’s current key value)</a:t>
            </a:r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98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12" name="Google Shape;2112;p98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HEAP-MAXIMUM</a:t>
            </a:r>
            <a:endParaRPr lang="en-US"/>
          </a:p>
        </p:txBody>
      </p:sp>
      <p:sp>
        <p:nvSpPr>
          <p:cNvPr id="2113" name="Google Shape;2113;p98"/>
          <p:cNvSpPr txBox="1"/>
          <p:nvPr>
            <p:ph type="body" idx="1"/>
          </p:nvPr>
        </p:nvSpPr>
        <p:spPr>
          <a:xfrm>
            <a:off x="350838" y="1219200"/>
            <a:ext cx="6430962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None/>
            </a:pPr>
            <a:r>
              <a:rPr lang="en-US"/>
              <a:t>Goal:</a:t>
            </a:r>
            <a:endParaRPr lang="en-US"/>
          </a:p>
          <a:p>
            <a:pPr marL="914400" lvl="1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Return the largest element of the heap</a:t>
            </a:r>
            <a:endParaRPr lang="en-US"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None/>
            </a:pPr>
            <a:endParaRPr>
              <a:solidFill>
                <a:srgbClr val="DD0111"/>
              </a:solidFill>
              <a:latin typeface="Corsiva" panose="03010101010201010101"/>
              <a:ea typeface="Corsiva" panose="03010101010201010101"/>
              <a:cs typeface="Corsiva" panose="03010101010201010101"/>
              <a:sym typeface="Corsiva" panose="03010101010201010101"/>
            </a:endParaRPr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rgbClr val="DD0111"/>
              </a:buClr>
              <a:buSzPts val="2800"/>
              <a:buFont typeface="Corsiva" panose="03010101010201010101"/>
              <a:buNone/>
            </a:pPr>
            <a:r>
              <a:rPr lang="en-US">
                <a:solidFill>
                  <a:srgbClr val="DD0111"/>
                </a:solidFill>
                <a:latin typeface="Corsiva" panose="03010101010201010101"/>
                <a:ea typeface="Corsiva" panose="03010101010201010101"/>
                <a:cs typeface="Corsiva" panose="03010101010201010101"/>
                <a:sym typeface="Corsiva" panose="03010101010201010101"/>
              </a:rPr>
              <a:t>Alg:</a:t>
            </a:r>
            <a:r>
              <a:rPr lang="en-US"/>
              <a:t> HEAP-MAXIMUM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	</a:t>
            </a:r>
            <a:r>
              <a:rPr lang="en-US" sz="2400" b="1"/>
              <a:t>return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A[1]</a:t>
            </a:r>
            <a:endParaRPr i="1">
              <a:latin typeface="Corsiva" panose="03010101010201010101"/>
              <a:ea typeface="Corsiva" panose="03010101010201010101"/>
              <a:cs typeface="Corsiva" panose="03010101010201010101"/>
              <a:sym typeface="Corsiva" panose="03010101010201010101"/>
            </a:endParaRPr>
          </a:p>
        </p:txBody>
      </p:sp>
      <p:sp>
        <p:nvSpPr>
          <p:cNvPr id="2114" name="Google Shape;2114;p98"/>
          <p:cNvSpPr txBox="1"/>
          <p:nvPr/>
        </p:nvSpPr>
        <p:spPr>
          <a:xfrm>
            <a:off x="6248400" y="2590800"/>
            <a:ext cx="2438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Running time:</a:t>
            </a:r>
            <a:r>
              <a:rPr lang="en-US" sz="2000" i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>
                <a:solidFill>
                  <a:srgbClr val="00000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O(1)</a:t>
            </a:r>
            <a:endParaRPr lang="en-US" sz="2000">
              <a:solidFill>
                <a:srgbClr val="00000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pic>
        <p:nvPicPr>
          <p:cNvPr id="2115" name="Google Shape;2115;p9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895600" y="3730625"/>
            <a:ext cx="3511550" cy="2097088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98"/>
          <p:cNvSpPr txBox="1"/>
          <p:nvPr/>
        </p:nvSpPr>
        <p:spPr>
          <a:xfrm>
            <a:off x="2362200" y="3654425"/>
            <a:ext cx="1285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Heap A:</a:t>
            </a:r>
            <a:endParaRPr lang="en-US" sz="2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17" name="Google Shape;2117;p98"/>
          <p:cNvSpPr txBox="1"/>
          <p:nvPr/>
        </p:nvSpPr>
        <p:spPr>
          <a:xfrm>
            <a:off x="2362200" y="5943600"/>
            <a:ext cx="4032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Heap-Maximum(A) returns 7</a:t>
            </a:r>
            <a:endParaRPr lang="en-US" sz="2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99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24" name="Google Shape;2124;p99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HEAP-EXTRACT-MAX</a:t>
            </a:r>
            <a:endParaRPr lang="en-US"/>
          </a:p>
        </p:txBody>
      </p:sp>
      <p:sp>
        <p:nvSpPr>
          <p:cNvPr id="2125" name="Google Shape;2125;p99"/>
          <p:cNvSpPr txBox="1"/>
          <p:nvPr>
            <p:ph type="body" idx="1"/>
          </p:nvPr>
        </p:nvSpPr>
        <p:spPr>
          <a:xfrm>
            <a:off x="304800" y="990600"/>
            <a:ext cx="8259763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None/>
            </a:pPr>
            <a:r>
              <a:rPr lang="en-US" sz="2400"/>
              <a:t>Goal:</a:t>
            </a:r>
            <a:endParaRPr lang="en-US" sz="2400"/>
          </a:p>
          <a:p>
            <a:pPr marL="914400" lvl="1" indent="-4572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</a:pPr>
            <a:r>
              <a:rPr lang="en-US" sz="2000"/>
              <a:t>Extract the largest element of the heap (i.e., return the max value and also remove that element from the heap) </a:t>
            </a:r>
            <a:endParaRPr sz="1800"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None/>
            </a:pPr>
            <a:r>
              <a:rPr lang="en-US" sz="2400"/>
              <a:t>Idea: </a:t>
            </a:r>
            <a:endParaRPr lang="en-US" sz="2400"/>
          </a:p>
          <a:p>
            <a:pPr marL="914400" lvl="1" indent="-4572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</a:pPr>
            <a:r>
              <a:rPr lang="en-US" sz="2000"/>
              <a:t>Exchange the root element with the last</a:t>
            </a:r>
            <a:endParaRPr lang="en-US" sz="2000"/>
          </a:p>
          <a:p>
            <a:pPr marL="914400" lvl="1" indent="-4572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</a:pPr>
            <a:r>
              <a:rPr lang="en-US" sz="2000"/>
              <a:t>Decrease the size of the heap by 1 element</a:t>
            </a:r>
            <a:endParaRPr lang="en-US" sz="2000"/>
          </a:p>
          <a:p>
            <a:pPr marL="914400" lvl="1" indent="-4572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</a:pPr>
            <a:r>
              <a:rPr lang="en-US" sz="2000"/>
              <a:t>Call MAX-HEAPIFY on the new root, on a heap of size n-1</a:t>
            </a:r>
            <a:endParaRPr lang="en-US" sz="2000"/>
          </a:p>
        </p:txBody>
      </p:sp>
      <p:pic>
        <p:nvPicPr>
          <p:cNvPr id="2126" name="Google Shape;2126;p9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438400" y="4572000"/>
            <a:ext cx="3511550" cy="2097088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99"/>
          <p:cNvSpPr txBox="1"/>
          <p:nvPr/>
        </p:nvSpPr>
        <p:spPr>
          <a:xfrm>
            <a:off x="1905000" y="4495800"/>
            <a:ext cx="1285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Heap A:</a:t>
            </a:r>
            <a:endParaRPr lang="en-US" sz="2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128" name="Google Shape;2128;p99"/>
          <p:cNvGrpSpPr/>
          <p:nvPr/>
        </p:nvGrpSpPr>
        <p:grpSpPr>
          <a:xfrm>
            <a:off x="4191000" y="4572000"/>
            <a:ext cx="3740150" cy="762000"/>
            <a:chOff x="2736" y="2880"/>
            <a:chExt cx="2356" cy="480"/>
          </a:xfrm>
        </p:grpSpPr>
        <p:sp>
          <p:nvSpPr>
            <p:cNvPr id="2129" name="Google Shape;2129;p99"/>
            <p:cNvSpPr/>
            <p:nvPr/>
          </p:nvSpPr>
          <p:spPr>
            <a:xfrm>
              <a:off x="2736" y="2880"/>
              <a:ext cx="480" cy="480"/>
            </a:xfrm>
            <a:prstGeom prst="rect">
              <a:avLst/>
            </a:prstGeom>
            <a:noFill/>
            <a:ln w="25400" cap="flat" cmpd="sng">
              <a:solidFill>
                <a:srgbClr val="DD01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0" name="Google Shape;2130;p99"/>
            <p:cNvSpPr txBox="1"/>
            <p:nvPr/>
          </p:nvSpPr>
          <p:spPr>
            <a:xfrm>
              <a:off x="3264" y="2880"/>
              <a:ext cx="182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DD011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Root is the largest element</a:t>
              </a:r>
              <a:endParaRPr lang="en-US" sz="1800">
                <a:solidFill>
                  <a:srgbClr val="DD011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100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37" name="Google Shape;2137;p100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</a:t>
            </a:r>
            <a:r>
              <a:rPr lang="en-US" sz="2800"/>
              <a:t>HEAP-EXTRACT-MAX</a:t>
            </a:r>
            <a:endParaRPr lang="en-US" sz="2800"/>
          </a:p>
        </p:txBody>
      </p:sp>
      <p:grpSp>
        <p:nvGrpSpPr>
          <p:cNvPr id="2138" name="Google Shape;2138;p100"/>
          <p:cNvGrpSpPr/>
          <p:nvPr/>
        </p:nvGrpSpPr>
        <p:grpSpPr>
          <a:xfrm>
            <a:off x="381000" y="1447800"/>
            <a:ext cx="2943225" cy="1844675"/>
            <a:chOff x="240" y="912"/>
            <a:chExt cx="1854" cy="1162"/>
          </a:xfrm>
        </p:grpSpPr>
        <p:cxnSp>
          <p:nvCxnSpPr>
            <p:cNvPr id="2139" name="Google Shape;2139;p100"/>
            <p:cNvCxnSpPr/>
            <p:nvPr/>
          </p:nvCxnSpPr>
          <p:spPr>
            <a:xfrm rot="10800000" flipH="1">
              <a:off x="954" y="1724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0" name="Google Shape;2140;p100"/>
            <p:cNvCxnSpPr/>
            <p:nvPr/>
          </p:nvCxnSpPr>
          <p:spPr>
            <a:xfrm rot="10800000" flipH="1">
              <a:off x="1421" y="1437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1" name="Google Shape;2141;p100"/>
            <p:cNvCxnSpPr/>
            <p:nvPr/>
          </p:nvCxnSpPr>
          <p:spPr>
            <a:xfrm rot="5400000" flipH="1">
              <a:off x="520" y="168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2" name="Google Shape;2142;p100"/>
            <p:cNvCxnSpPr/>
            <p:nvPr/>
          </p:nvCxnSpPr>
          <p:spPr>
            <a:xfrm rot="5400000" flipH="1">
              <a:off x="861" y="143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3" name="Google Shape;2143;p100"/>
            <p:cNvCxnSpPr/>
            <p:nvPr/>
          </p:nvCxnSpPr>
          <p:spPr>
            <a:xfrm rot="5400000" flipH="1">
              <a:off x="1257" y="980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4" name="Google Shape;2144;p100"/>
            <p:cNvCxnSpPr/>
            <p:nvPr/>
          </p:nvCxnSpPr>
          <p:spPr>
            <a:xfrm rot="10800000" flipH="1">
              <a:off x="346" y="1008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45" name="Google Shape;2145;p100"/>
            <p:cNvSpPr/>
            <p:nvPr/>
          </p:nvSpPr>
          <p:spPr>
            <a:xfrm>
              <a:off x="490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6" name="Google Shape;2146;p100"/>
            <p:cNvSpPr/>
            <p:nvPr/>
          </p:nvSpPr>
          <p:spPr>
            <a:xfrm>
              <a:off x="240" y="187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7" name="Google Shape;2147;p100"/>
            <p:cNvSpPr/>
            <p:nvPr/>
          </p:nvSpPr>
          <p:spPr>
            <a:xfrm>
              <a:off x="682" y="187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8" name="Google Shape;2148;p100"/>
            <p:cNvSpPr/>
            <p:nvPr/>
          </p:nvSpPr>
          <p:spPr>
            <a:xfrm>
              <a:off x="778" y="134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9" name="Google Shape;2149;p100"/>
            <p:cNvSpPr/>
            <p:nvPr/>
          </p:nvSpPr>
          <p:spPr>
            <a:xfrm>
              <a:off x="1066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0" name="Google Shape;2150;p100"/>
            <p:cNvSpPr/>
            <p:nvPr/>
          </p:nvSpPr>
          <p:spPr>
            <a:xfrm>
              <a:off x="922" y="187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1" name="Google Shape;2151;p100"/>
            <p:cNvSpPr/>
            <p:nvPr/>
          </p:nvSpPr>
          <p:spPr>
            <a:xfrm>
              <a:off x="1234" y="91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2" name="Google Shape;2152;p100"/>
            <p:cNvSpPr/>
            <p:nvPr/>
          </p:nvSpPr>
          <p:spPr>
            <a:xfrm>
              <a:off x="1640" y="134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3" name="Google Shape;2153;p100"/>
            <p:cNvSpPr/>
            <p:nvPr/>
          </p:nvSpPr>
          <p:spPr>
            <a:xfrm>
              <a:off x="1316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4" name="Google Shape;2154;p100"/>
            <p:cNvSpPr/>
            <p:nvPr/>
          </p:nvSpPr>
          <p:spPr>
            <a:xfrm>
              <a:off x="1892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155" name="Google Shape;2155;p100"/>
          <p:cNvSpPr txBox="1"/>
          <p:nvPr/>
        </p:nvSpPr>
        <p:spPr>
          <a:xfrm>
            <a:off x="3886200" y="2133600"/>
            <a:ext cx="141446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D0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max = 16</a:t>
            </a:r>
            <a:endParaRPr lang="en-US" sz="2400">
              <a:solidFill>
                <a:srgbClr val="DD0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grpSp>
        <p:nvGrpSpPr>
          <p:cNvPr id="2156" name="Google Shape;2156;p100"/>
          <p:cNvGrpSpPr/>
          <p:nvPr/>
        </p:nvGrpSpPr>
        <p:grpSpPr>
          <a:xfrm>
            <a:off x="5410200" y="1447800"/>
            <a:ext cx="2943224" cy="1844675"/>
            <a:chOff x="3408" y="912"/>
            <a:chExt cx="1854" cy="1162"/>
          </a:xfrm>
        </p:grpSpPr>
        <p:cxnSp>
          <p:nvCxnSpPr>
            <p:cNvPr id="2157" name="Google Shape;2157;p100"/>
            <p:cNvCxnSpPr/>
            <p:nvPr/>
          </p:nvCxnSpPr>
          <p:spPr>
            <a:xfrm rot="10800000" flipH="1">
              <a:off x="4589" y="1437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8" name="Google Shape;2158;p100"/>
            <p:cNvCxnSpPr/>
            <p:nvPr/>
          </p:nvCxnSpPr>
          <p:spPr>
            <a:xfrm rot="5400000" flipH="1">
              <a:off x="3688" y="168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9" name="Google Shape;2159;p100"/>
            <p:cNvCxnSpPr/>
            <p:nvPr/>
          </p:nvCxnSpPr>
          <p:spPr>
            <a:xfrm rot="5400000" flipH="1">
              <a:off x="4029" y="143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0" name="Google Shape;2160;p100"/>
            <p:cNvCxnSpPr/>
            <p:nvPr/>
          </p:nvCxnSpPr>
          <p:spPr>
            <a:xfrm rot="5400000" flipH="1">
              <a:off x="4425" y="980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1" name="Google Shape;2161;p100"/>
            <p:cNvCxnSpPr/>
            <p:nvPr/>
          </p:nvCxnSpPr>
          <p:spPr>
            <a:xfrm rot="10800000" flipH="1">
              <a:off x="3514" y="1008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62" name="Google Shape;2162;p100"/>
            <p:cNvSpPr/>
            <p:nvPr/>
          </p:nvSpPr>
          <p:spPr>
            <a:xfrm>
              <a:off x="3658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3" name="Google Shape;2163;p100"/>
            <p:cNvSpPr/>
            <p:nvPr/>
          </p:nvSpPr>
          <p:spPr>
            <a:xfrm>
              <a:off x="3408" y="187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4" name="Google Shape;2164;p100"/>
            <p:cNvSpPr/>
            <p:nvPr/>
          </p:nvSpPr>
          <p:spPr>
            <a:xfrm>
              <a:off x="3850" y="187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5" name="Google Shape;2165;p100"/>
            <p:cNvSpPr/>
            <p:nvPr/>
          </p:nvSpPr>
          <p:spPr>
            <a:xfrm>
              <a:off x="3946" y="134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6" name="Google Shape;2166;p100"/>
            <p:cNvSpPr/>
            <p:nvPr/>
          </p:nvSpPr>
          <p:spPr>
            <a:xfrm>
              <a:off x="4234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7" name="Google Shape;2167;p100"/>
            <p:cNvSpPr/>
            <p:nvPr/>
          </p:nvSpPr>
          <p:spPr>
            <a:xfrm>
              <a:off x="4402" y="91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8" name="Google Shape;2168;p100"/>
            <p:cNvSpPr/>
            <p:nvPr/>
          </p:nvSpPr>
          <p:spPr>
            <a:xfrm>
              <a:off x="4808" y="134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9" name="Google Shape;2169;p100"/>
            <p:cNvSpPr/>
            <p:nvPr/>
          </p:nvSpPr>
          <p:spPr>
            <a:xfrm>
              <a:off x="4484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0" name="Google Shape;2170;p100"/>
            <p:cNvSpPr/>
            <p:nvPr/>
          </p:nvSpPr>
          <p:spPr>
            <a:xfrm>
              <a:off x="5060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171" name="Google Shape;2171;p100"/>
          <p:cNvSpPr/>
          <p:nvPr/>
        </p:nvSpPr>
        <p:spPr>
          <a:xfrm>
            <a:off x="1600200" y="1752600"/>
            <a:ext cx="457200" cy="1219200"/>
          </a:xfrm>
          <a:custGeom>
            <a:avLst/>
            <a:gdLst/>
            <a:ahLst/>
            <a:cxnLst/>
            <a:rect l="l" t="t" r="r" b="b"/>
            <a:pathLst>
              <a:path w="288" h="768" extrusionOk="0">
                <a:moveTo>
                  <a:pt x="288" y="0"/>
                </a:moveTo>
                <a:cubicBezTo>
                  <a:pt x="192" y="80"/>
                  <a:pt x="96" y="160"/>
                  <a:pt x="48" y="288"/>
                </a:cubicBezTo>
                <a:cubicBezTo>
                  <a:pt x="0" y="416"/>
                  <a:pt x="0" y="712"/>
                  <a:pt x="0" y="768"/>
                </a:cubicBezTo>
              </a:path>
            </a:pathLst>
          </a:custGeom>
          <a:noFill/>
          <a:ln w="38100" cap="flat" cmpd="sng">
            <a:solidFill>
              <a:srgbClr val="DD0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72" name="Google Shape;2172;p100"/>
          <p:cNvSpPr txBox="1"/>
          <p:nvPr/>
        </p:nvSpPr>
        <p:spPr>
          <a:xfrm>
            <a:off x="5334000" y="3346450"/>
            <a:ext cx="33035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Heap size decreased with 1</a:t>
            </a:r>
            <a:endParaRPr lang="en-US" sz="2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173" name="Google Shape;2173;p100"/>
          <p:cNvGrpSpPr/>
          <p:nvPr/>
        </p:nvGrpSpPr>
        <p:grpSpPr>
          <a:xfrm>
            <a:off x="3886200" y="4343400"/>
            <a:ext cx="2943224" cy="1844675"/>
            <a:chOff x="3408" y="912"/>
            <a:chExt cx="1854" cy="1162"/>
          </a:xfrm>
        </p:grpSpPr>
        <p:cxnSp>
          <p:nvCxnSpPr>
            <p:cNvPr id="2174" name="Google Shape;2174;p100"/>
            <p:cNvCxnSpPr/>
            <p:nvPr/>
          </p:nvCxnSpPr>
          <p:spPr>
            <a:xfrm rot="10800000" flipH="1">
              <a:off x="4589" y="1437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5" name="Google Shape;2175;p100"/>
            <p:cNvCxnSpPr/>
            <p:nvPr/>
          </p:nvCxnSpPr>
          <p:spPr>
            <a:xfrm rot="5400000" flipH="1">
              <a:off x="3688" y="168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6" name="Google Shape;2176;p100"/>
            <p:cNvCxnSpPr/>
            <p:nvPr/>
          </p:nvCxnSpPr>
          <p:spPr>
            <a:xfrm rot="5400000" flipH="1">
              <a:off x="4029" y="143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7" name="Google Shape;2177;p100"/>
            <p:cNvCxnSpPr/>
            <p:nvPr/>
          </p:nvCxnSpPr>
          <p:spPr>
            <a:xfrm rot="5400000" flipH="1">
              <a:off x="4425" y="980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8" name="Google Shape;2178;p100"/>
            <p:cNvCxnSpPr/>
            <p:nvPr/>
          </p:nvCxnSpPr>
          <p:spPr>
            <a:xfrm rot="10800000" flipH="1">
              <a:off x="3514" y="1008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79" name="Google Shape;2179;p100"/>
            <p:cNvSpPr/>
            <p:nvPr/>
          </p:nvSpPr>
          <p:spPr>
            <a:xfrm>
              <a:off x="3658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0" name="Google Shape;2180;p100"/>
            <p:cNvSpPr/>
            <p:nvPr/>
          </p:nvSpPr>
          <p:spPr>
            <a:xfrm>
              <a:off x="3408" y="187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1" name="Google Shape;2181;p100"/>
            <p:cNvSpPr/>
            <p:nvPr/>
          </p:nvSpPr>
          <p:spPr>
            <a:xfrm>
              <a:off x="3850" y="187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2" name="Google Shape;2182;p100"/>
            <p:cNvSpPr/>
            <p:nvPr/>
          </p:nvSpPr>
          <p:spPr>
            <a:xfrm>
              <a:off x="3946" y="134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3" name="Google Shape;2183;p100"/>
            <p:cNvSpPr/>
            <p:nvPr/>
          </p:nvSpPr>
          <p:spPr>
            <a:xfrm>
              <a:off x="4234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4" name="Google Shape;2184;p100"/>
            <p:cNvSpPr/>
            <p:nvPr/>
          </p:nvSpPr>
          <p:spPr>
            <a:xfrm>
              <a:off x="4402" y="91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5" name="Google Shape;2185;p100"/>
            <p:cNvSpPr/>
            <p:nvPr/>
          </p:nvSpPr>
          <p:spPr>
            <a:xfrm>
              <a:off x="4808" y="134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6" name="Google Shape;2186;p100"/>
            <p:cNvSpPr/>
            <p:nvPr/>
          </p:nvSpPr>
          <p:spPr>
            <a:xfrm>
              <a:off x="4484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7" name="Google Shape;2187;p100"/>
            <p:cNvSpPr/>
            <p:nvPr/>
          </p:nvSpPr>
          <p:spPr>
            <a:xfrm>
              <a:off x="5060" y="162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188" name="Google Shape;2188;p100"/>
          <p:cNvSpPr txBox="1"/>
          <p:nvPr/>
        </p:nvSpPr>
        <p:spPr>
          <a:xfrm>
            <a:off x="685800" y="4800600"/>
            <a:ext cx="27863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D011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Call MAX-HEAPIFY</a:t>
            </a:r>
            <a:r>
              <a:rPr lang="en-US" sz="1800">
                <a:solidFill>
                  <a:srgbClr val="DD0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(A, 1)</a:t>
            </a:r>
            <a:endParaRPr lang="en-US" sz="1800">
              <a:solidFill>
                <a:srgbClr val="DD0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101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195" name="Google Shape;2195;p101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HEAP-EXTRACT-MAX</a:t>
            </a:r>
            <a:endParaRPr lang="en-US"/>
          </a:p>
        </p:txBody>
      </p:sp>
      <p:sp>
        <p:nvSpPr>
          <p:cNvPr id="2196" name="Google Shape;2196;p101"/>
          <p:cNvSpPr txBox="1"/>
          <p:nvPr>
            <p:ph type="body" idx="1"/>
          </p:nvPr>
        </p:nvSpPr>
        <p:spPr>
          <a:xfrm>
            <a:off x="350838" y="1214438"/>
            <a:ext cx="842645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0111"/>
              </a:buClr>
              <a:buSzPts val="2800"/>
              <a:buFont typeface="Corsiva" panose="03010101010201010101"/>
              <a:buNone/>
            </a:pPr>
            <a:r>
              <a:rPr lang="en-US">
                <a:solidFill>
                  <a:srgbClr val="DD0111"/>
                </a:solidFill>
                <a:latin typeface="Corsiva" panose="03010101010201010101"/>
                <a:ea typeface="Corsiva" panose="03010101010201010101"/>
                <a:cs typeface="Corsiva" panose="03010101010201010101"/>
                <a:sym typeface="Corsiva" panose="03010101010201010101"/>
              </a:rPr>
              <a:t>Alg:</a:t>
            </a:r>
            <a:r>
              <a:rPr lang="en-US"/>
              <a:t> HEAP-EXTRACT-MAX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(A)</a:t>
            </a:r>
            <a:endParaRPr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AutoNum type="arabicPeriod"/>
            </a:pPr>
            <a:r>
              <a:rPr lang="en-US"/>
              <a:t> </a:t>
            </a:r>
            <a:r>
              <a:rPr lang="en-US" sz="2400" b="1"/>
              <a:t>if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A.heap-size &lt; 1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    </a:t>
            </a:r>
            <a:r>
              <a:rPr lang="en-US" sz="2400" b="1"/>
              <a:t>then error </a:t>
            </a:r>
            <a:r>
              <a:rPr lang="en-US" sz="2400"/>
              <a:t>“heap underflow”</a:t>
            </a:r>
            <a:endParaRPr lang="en-US" sz="2400"/>
          </a:p>
          <a:p>
            <a:pPr marL="533400" lvl="0" indent="-5334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max ← A[1]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A[1] ← A[A.heap-size]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 panose="030F0702030302020204"/>
              <a:buAutoNum type="arabicPeriod"/>
            </a:pP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A.heap-size = A.heap-size - 1</a:t>
            </a:r>
            <a:endParaRPr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MAX-HEAPIFY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(A, 1)</a:t>
            </a:r>
            <a:r>
              <a:rPr lang="en-US" sz="2400"/>
              <a:t>                 remakes heap</a:t>
            </a:r>
            <a:endParaRPr lang="en-US" sz="2400"/>
          </a:p>
          <a:p>
            <a:pPr marL="533400" lvl="0" indent="-5334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</a:t>
            </a:r>
            <a:r>
              <a:rPr lang="en-US" sz="2400" b="1"/>
              <a:t>return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max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2197" name="Google Shape;2197;p101"/>
          <p:cNvSpPr/>
          <p:nvPr/>
        </p:nvSpPr>
        <p:spPr>
          <a:xfrm rot="-8100000">
            <a:off x="5672138" y="4822825"/>
            <a:ext cx="152400" cy="152400"/>
          </a:xfrm>
          <a:prstGeom prst="rtTriangl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98" name="Google Shape;2198;p101"/>
          <p:cNvSpPr txBox="1"/>
          <p:nvPr/>
        </p:nvSpPr>
        <p:spPr>
          <a:xfrm>
            <a:off x="2971800" y="5867400"/>
            <a:ext cx="3352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Running time:</a:t>
            </a:r>
            <a:r>
              <a:rPr lang="en-US" sz="2000" i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>
                <a:solidFill>
                  <a:srgbClr val="00000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O(lgn)</a:t>
            </a:r>
            <a:endParaRPr lang="en-US" sz="2000">
              <a:solidFill>
                <a:srgbClr val="00000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pic>
        <p:nvPicPr>
          <p:cNvPr id="2199" name="Google Shape;2199;p10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364163" y="2182813"/>
            <a:ext cx="3511550" cy="209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102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206" name="Google Shape;2206;p102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HEAP-INCREASE-KEY</a:t>
            </a:r>
            <a:endParaRPr lang="en-US" sz="4400"/>
          </a:p>
        </p:txBody>
      </p:sp>
      <p:sp>
        <p:nvSpPr>
          <p:cNvPr id="2207" name="Google Shape;2207;p102"/>
          <p:cNvSpPr txBox="1"/>
          <p:nvPr>
            <p:ph type="body" idx="1"/>
          </p:nvPr>
        </p:nvSpPr>
        <p:spPr>
          <a:xfrm>
            <a:off x="350838" y="1066800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US"/>
              <a:t>Goal:</a:t>
            </a:r>
            <a:endParaRPr lang="en-US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Increases the key of an element i in the heap</a:t>
            </a:r>
            <a:endParaRPr lang="en-US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US"/>
              <a:t>Idea:</a:t>
            </a:r>
            <a:endParaRPr lang="en-US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Increment the key of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A[i]</a:t>
            </a:r>
            <a:r>
              <a:rPr lang="en-US"/>
              <a:t> to its new value</a:t>
            </a:r>
            <a:endParaRPr lang="en-US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If the max-heap property does not hold anymore: traverse a path toward the root to find the proper place for the newly increased key</a:t>
            </a:r>
            <a:endParaRPr lang="en-US"/>
          </a:p>
        </p:txBody>
      </p:sp>
      <p:grpSp>
        <p:nvGrpSpPr>
          <p:cNvPr id="2208" name="Google Shape;2208;p102"/>
          <p:cNvGrpSpPr/>
          <p:nvPr/>
        </p:nvGrpSpPr>
        <p:grpSpPr>
          <a:xfrm>
            <a:off x="3048000" y="4343400"/>
            <a:ext cx="2943225" cy="1844675"/>
            <a:chOff x="328" y="1879"/>
            <a:chExt cx="1854" cy="1162"/>
          </a:xfrm>
        </p:grpSpPr>
        <p:cxnSp>
          <p:nvCxnSpPr>
            <p:cNvPr id="2209" name="Google Shape;2209;p102"/>
            <p:cNvCxnSpPr/>
            <p:nvPr/>
          </p:nvCxnSpPr>
          <p:spPr>
            <a:xfrm rot="10800000" flipH="1">
              <a:off x="1042" y="2691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0" name="Google Shape;2210;p102"/>
            <p:cNvCxnSpPr/>
            <p:nvPr/>
          </p:nvCxnSpPr>
          <p:spPr>
            <a:xfrm rot="10800000" flipH="1">
              <a:off x="1509" y="2404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1" name="Google Shape;2211;p102"/>
            <p:cNvCxnSpPr/>
            <p:nvPr/>
          </p:nvCxnSpPr>
          <p:spPr>
            <a:xfrm rot="5400000" flipH="1">
              <a:off x="608" y="2649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2" name="Google Shape;2212;p102"/>
            <p:cNvCxnSpPr/>
            <p:nvPr/>
          </p:nvCxnSpPr>
          <p:spPr>
            <a:xfrm rot="5400000" flipH="1">
              <a:off x="949" y="2399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3" name="Google Shape;2213;p102"/>
            <p:cNvCxnSpPr/>
            <p:nvPr/>
          </p:nvCxnSpPr>
          <p:spPr>
            <a:xfrm rot="5400000" flipH="1">
              <a:off x="1345" y="1947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4" name="Google Shape;2214;p102"/>
            <p:cNvCxnSpPr/>
            <p:nvPr/>
          </p:nvCxnSpPr>
          <p:spPr>
            <a:xfrm rot="10800000" flipH="1">
              <a:off x="434" y="1975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15" name="Google Shape;2215;p102"/>
            <p:cNvSpPr/>
            <p:nvPr/>
          </p:nvSpPr>
          <p:spPr>
            <a:xfrm>
              <a:off x="578" y="258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6" name="Google Shape;2216;p102"/>
            <p:cNvSpPr/>
            <p:nvPr/>
          </p:nvSpPr>
          <p:spPr>
            <a:xfrm>
              <a:off x="328" y="283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7" name="Google Shape;2217;p102"/>
            <p:cNvSpPr/>
            <p:nvPr/>
          </p:nvSpPr>
          <p:spPr>
            <a:xfrm>
              <a:off x="770" y="2839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DD0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8" name="Google Shape;2218;p102"/>
            <p:cNvSpPr/>
            <p:nvPr/>
          </p:nvSpPr>
          <p:spPr>
            <a:xfrm>
              <a:off x="866" y="2311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9" name="Google Shape;2219;p102"/>
            <p:cNvSpPr/>
            <p:nvPr/>
          </p:nvSpPr>
          <p:spPr>
            <a:xfrm>
              <a:off x="1154" y="258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0" name="Google Shape;2220;p102"/>
            <p:cNvSpPr/>
            <p:nvPr/>
          </p:nvSpPr>
          <p:spPr>
            <a:xfrm>
              <a:off x="1010" y="283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1" name="Google Shape;2221;p102"/>
            <p:cNvSpPr/>
            <p:nvPr/>
          </p:nvSpPr>
          <p:spPr>
            <a:xfrm>
              <a:off x="1322" y="187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2" name="Google Shape;2222;p102"/>
            <p:cNvSpPr/>
            <p:nvPr/>
          </p:nvSpPr>
          <p:spPr>
            <a:xfrm>
              <a:off x="1728" y="2311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3" name="Google Shape;2223;p102"/>
            <p:cNvSpPr/>
            <p:nvPr/>
          </p:nvSpPr>
          <p:spPr>
            <a:xfrm>
              <a:off x="1404" y="258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4" name="Google Shape;2224;p102"/>
            <p:cNvSpPr/>
            <p:nvPr/>
          </p:nvSpPr>
          <p:spPr>
            <a:xfrm>
              <a:off x="1980" y="258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5" name="Google Shape;2225;p102"/>
            <p:cNvSpPr txBox="1"/>
            <p:nvPr/>
          </p:nvSpPr>
          <p:spPr>
            <a:xfrm>
              <a:off x="794" y="2655"/>
              <a:ext cx="151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rsiva" panose="03010101010201010101"/>
                  <a:ea typeface="Corsiva" panose="03010101010201010101"/>
                  <a:cs typeface="Corsiva" panose="03010101010201010101"/>
                  <a:sym typeface="Corsiva" panose="03010101010201010101"/>
                </a:rPr>
                <a:t>i</a:t>
              </a:r>
              <a:endParaRPr lang="en-US" sz="1800">
                <a:solidFill>
                  <a:schemeClr val="dk1"/>
                </a:solidFill>
                <a:latin typeface="Corsiva" panose="03010101010201010101"/>
                <a:ea typeface="Corsiva" panose="03010101010201010101"/>
                <a:cs typeface="Corsiva" panose="03010101010201010101"/>
                <a:sym typeface="Corsiva" panose="03010101010201010101"/>
              </a:endParaRPr>
            </a:p>
          </p:txBody>
        </p:sp>
      </p:grpSp>
      <p:sp>
        <p:nvSpPr>
          <p:cNvPr id="2226" name="Google Shape;2226;p102"/>
          <p:cNvSpPr txBox="1"/>
          <p:nvPr/>
        </p:nvSpPr>
        <p:spPr>
          <a:xfrm>
            <a:off x="1371600" y="5778500"/>
            <a:ext cx="1625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D0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Key [i]</a:t>
            </a:r>
            <a:r>
              <a:rPr lang="en-US" sz="2000">
                <a:solidFill>
                  <a:srgbClr val="DD011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← 15</a:t>
            </a:r>
            <a:endParaRPr lang="en-US" sz="2000">
              <a:solidFill>
                <a:srgbClr val="DD011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103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233" name="Google Shape;2233;p103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</a:t>
            </a:r>
            <a:r>
              <a:rPr lang="en-US" sz="2800"/>
              <a:t>HEAP-INCREASE-KEY</a:t>
            </a:r>
            <a:endParaRPr lang="en-US" sz="2800"/>
          </a:p>
        </p:txBody>
      </p:sp>
      <p:grpSp>
        <p:nvGrpSpPr>
          <p:cNvPr id="2234" name="Google Shape;2234;p103"/>
          <p:cNvGrpSpPr/>
          <p:nvPr/>
        </p:nvGrpSpPr>
        <p:grpSpPr>
          <a:xfrm>
            <a:off x="5133975" y="4098925"/>
            <a:ext cx="2943225" cy="1844675"/>
            <a:chOff x="3445" y="2582"/>
            <a:chExt cx="1854" cy="1162"/>
          </a:xfrm>
        </p:grpSpPr>
        <p:cxnSp>
          <p:nvCxnSpPr>
            <p:cNvPr id="2235" name="Google Shape;2235;p103"/>
            <p:cNvCxnSpPr/>
            <p:nvPr/>
          </p:nvCxnSpPr>
          <p:spPr>
            <a:xfrm rot="10800000" flipH="1">
              <a:off x="4159" y="3394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6" name="Google Shape;2236;p103"/>
            <p:cNvCxnSpPr/>
            <p:nvPr/>
          </p:nvCxnSpPr>
          <p:spPr>
            <a:xfrm rot="10800000" flipH="1">
              <a:off x="4626" y="3107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7" name="Google Shape;2237;p103"/>
            <p:cNvCxnSpPr/>
            <p:nvPr/>
          </p:nvCxnSpPr>
          <p:spPr>
            <a:xfrm rot="5400000" flipH="1">
              <a:off x="3725" y="335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8" name="Google Shape;2238;p103"/>
            <p:cNvCxnSpPr/>
            <p:nvPr/>
          </p:nvCxnSpPr>
          <p:spPr>
            <a:xfrm rot="5400000" flipH="1">
              <a:off x="4066" y="310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9" name="Google Shape;2239;p103"/>
            <p:cNvCxnSpPr/>
            <p:nvPr/>
          </p:nvCxnSpPr>
          <p:spPr>
            <a:xfrm rot="5400000" flipH="1">
              <a:off x="4462" y="2650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0" name="Google Shape;2240;p103"/>
            <p:cNvCxnSpPr/>
            <p:nvPr/>
          </p:nvCxnSpPr>
          <p:spPr>
            <a:xfrm rot="10800000" flipH="1">
              <a:off x="3551" y="2678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41" name="Google Shape;2241;p103"/>
            <p:cNvSpPr/>
            <p:nvPr/>
          </p:nvSpPr>
          <p:spPr>
            <a:xfrm>
              <a:off x="3695" y="329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2" name="Google Shape;2242;p103"/>
            <p:cNvSpPr/>
            <p:nvPr/>
          </p:nvSpPr>
          <p:spPr>
            <a:xfrm>
              <a:off x="3445" y="354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3" name="Google Shape;2243;p103"/>
            <p:cNvSpPr/>
            <p:nvPr/>
          </p:nvSpPr>
          <p:spPr>
            <a:xfrm>
              <a:off x="3887" y="354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4" name="Google Shape;2244;p103"/>
            <p:cNvSpPr/>
            <p:nvPr/>
          </p:nvSpPr>
          <p:spPr>
            <a:xfrm>
              <a:off x="3983" y="3014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DD0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15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5" name="Google Shape;2245;p103"/>
            <p:cNvSpPr/>
            <p:nvPr/>
          </p:nvSpPr>
          <p:spPr>
            <a:xfrm>
              <a:off x="4271" y="329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6" name="Google Shape;2246;p103"/>
            <p:cNvSpPr/>
            <p:nvPr/>
          </p:nvSpPr>
          <p:spPr>
            <a:xfrm>
              <a:off x="4127" y="354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7" name="Google Shape;2247;p103"/>
            <p:cNvSpPr/>
            <p:nvPr/>
          </p:nvSpPr>
          <p:spPr>
            <a:xfrm>
              <a:off x="4439" y="258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8" name="Google Shape;2248;p103"/>
            <p:cNvSpPr/>
            <p:nvPr/>
          </p:nvSpPr>
          <p:spPr>
            <a:xfrm>
              <a:off x="4845" y="301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9" name="Google Shape;2249;p103"/>
            <p:cNvSpPr/>
            <p:nvPr/>
          </p:nvSpPr>
          <p:spPr>
            <a:xfrm>
              <a:off x="4521" y="329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0" name="Google Shape;2250;p103"/>
            <p:cNvSpPr/>
            <p:nvPr/>
          </p:nvSpPr>
          <p:spPr>
            <a:xfrm>
              <a:off x="5097" y="329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1" name="Google Shape;2251;p103"/>
            <p:cNvSpPr txBox="1"/>
            <p:nvPr/>
          </p:nvSpPr>
          <p:spPr>
            <a:xfrm>
              <a:off x="3984" y="2832"/>
              <a:ext cx="151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rsiva" panose="03010101010201010101"/>
                  <a:ea typeface="Corsiva" panose="03010101010201010101"/>
                  <a:cs typeface="Corsiva" panose="03010101010201010101"/>
                  <a:sym typeface="Corsiva" panose="03010101010201010101"/>
                </a:rPr>
                <a:t>i</a:t>
              </a:r>
              <a:endParaRPr lang="en-US" sz="1800">
                <a:solidFill>
                  <a:schemeClr val="dk1"/>
                </a:solidFill>
                <a:latin typeface="Corsiva" panose="03010101010201010101"/>
                <a:ea typeface="Corsiva" panose="03010101010201010101"/>
                <a:cs typeface="Corsiva" panose="03010101010201010101"/>
                <a:sym typeface="Corsiva" panose="03010101010201010101"/>
              </a:endParaRPr>
            </a:p>
          </p:txBody>
        </p:sp>
      </p:grpSp>
      <p:grpSp>
        <p:nvGrpSpPr>
          <p:cNvPr id="2252" name="Google Shape;2252;p103"/>
          <p:cNvGrpSpPr/>
          <p:nvPr/>
        </p:nvGrpSpPr>
        <p:grpSpPr>
          <a:xfrm>
            <a:off x="862013" y="1355725"/>
            <a:ext cx="2943225" cy="2349500"/>
            <a:chOff x="543" y="854"/>
            <a:chExt cx="1854" cy="1480"/>
          </a:xfrm>
        </p:grpSpPr>
        <p:grpSp>
          <p:nvGrpSpPr>
            <p:cNvPr id="2253" name="Google Shape;2253;p103"/>
            <p:cNvGrpSpPr/>
            <p:nvPr/>
          </p:nvGrpSpPr>
          <p:grpSpPr>
            <a:xfrm>
              <a:off x="543" y="854"/>
              <a:ext cx="1854" cy="1162"/>
              <a:chOff x="328" y="1879"/>
              <a:chExt cx="1854" cy="1162"/>
            </a:xfrm>
          </p:grpSpPr>
          <p:cxnSp>
            <p:nvCxnSpPr>
              <p:cNvPr id="2254" name="Google Shape;2254;p103"/>
              <p:cNvCxnSpPr/>
              <p:nvPr/>
            </p:nvCxnSpPr>
            <p:spPr>
              <a:xfrm rot="10800000" flipH="1">
                <a:off x="1042" y="2691"/>
                <a:ext cx="259" cy="2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5" name="Google Shape;2255;p103"/>
              <p:cNvCxnSpPr/>
              <p:nvPr/>
            </p:nvCxnSpPr>
            <p:spPr>
              <a:xfrm rot="10800000" flipH="1">
                <a:off x="1509" y="2404"/>
                <a:ext cx="322" cy="3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6" name="Google Shape;2256;p103"/>
              <p:cNvCxnSpPr/>
              <p:nvPr/>
            </p:nvCxnSpPr>
            <p:spPr>
              <a:xfrm rot="5400000" flipH="1">
                <a:off x="608" y="2649"/>
                <a:ext cx="322" cy="3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7" name="Google Shape;2257;p103"/>
              <p:cNvCxnSpPr/>
              <p:nvPr/>
            </p:nvCxnSpPr>
            <p:spPr>
              <a:xfrm rot="5400000" flipH="1">
                <a:off x="949" y="2399"/>
                <a:ext cx="322" cy="3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8" name="Google Shape;2258;p103"/>
              <p:cNvCxnSpPr/>
              <p:nvPr/>
            </p:nvCxnSpPr>
            <p:spPr>
              <a:xfrm rot="5400000" flipH="1">
                <a:off x="1345" y="1947"/>
                <a:ext cx="806" cy="7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9" name="Google Shape;2259;p103"/>
              <p:cNvCxnSpPr/>
              <p:nvPr/>
            </p:nvCxnSpPr>
            <p:spPr>
              <a:xfrm rot="10800000" flipH="1">
                <a:off x="434" y="1975"/>
                <a:ext cx="1008" cy="9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60" name="Google Shape;2260;p103"/>
              <p:cNvSpPr/>
              <p:nvPr/>
            </p:nvSpPr>
            <p:spPr>
              <a:xfrm>
                <a:off x="578" y="258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8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1" name="Google Shape;2261;p103"/>
              <p:cNvSpPr/>
              <p:nvPr/>
            </p:nvSpPr>
            <p:spPr>
              <a:xfrm>
                <a:off x="328" y="283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2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2" name="Google Shape;2262;p103"/>
              <p:cNvSpPr/>
              <p:nvPr/>
            </p:nvSpPr>
            <p:spPr>
              <a:xfrm>
                <a:off x="770" y="283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38100" cap="flat" cmpd="sng">
                <a:solidFill>
                  <a:srgbClr val="DD0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4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3" name="Google Shape;2263;p103"/>
              <p:cNvSpPr/>
              <p:nvPr/>
            </p:nvSpPr>
            <p:spPr>
              <a:xfrm>
                <a:off x="866" y="2311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14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4" name="Google Shape;2264;p103"/>
              <p:cNvSpPr/>
              <p:nvPr/>
            </p:nvSpPr>
            <p:spPr>
              <a:xfrm>
                <a:off x="1154" y="258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7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5" name="Google Shape;2265;p103"/>
              <p:cNvSpPr/>
              <p:nvPr/>
            </p:nvSpPr>
            <p:spPr>
              <a:xfrm>
                <a:off x="1010" y="283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6" name="Google Shape;2266;p103"/>
              <p:cNvSpPr/>
              <p:nvPr/>
            </p:nvSpPr>
            <p:spPr>
              <a:xfrm>
                <a:off x="1322" y="187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16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7" name="Google Shape;2267;p103"/>
              <p:cNvSpPr/>
              <p:nvPr/>
            </p:nvSpPr>
            <p:spPr>
              <a:xfrm>
                <a:off x="1728" y="2311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10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8" name="Google Shape;2268;p103"/>
              <p:cNvSpPr/>
              <p:nvPr/>
            </p:nvSpPr>
            <p:spPr>
              <a:xfrm>
                <a:off x="1404" y="258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9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9" name="Google Shape;2269;p103"/>
              <p:cNvSpPr/>
              <p:nvPr/>
            </p:nvSpPr>
            <p:spPr>
              <a:xfrm>
                <a:off x="1980" y="258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70" name="Google Shape;2270;p103"/>
              <p:cNvSpPr txBox="1"/>
              <p:nvPr/>
            </p:nvSpPr>
            <p:spPr>
              <a:xfrm>
                <a:off x="794" y="2655"/>
                <a:ext cx="15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rsiva" panose="03010101010201010101"/>
                    <a:ea typeface="Corsiva" panose="03010101010201010101"/>
                    <a:cs typeface="Corsiva" panose="03010101010201010101"/>
                    <a:sym typeface="Corsiva" panose="03010101010201010101"/>
                  </a:rPr>
                  <a:t>i</a:t>
                </a:r>
                <a:endParaRPr lang="en-US" sz="1800">
                  <a:solidFill>
                    <a:schemeClr val="dk1"/>
                  </a:solidFill>
                  <a:latin typeface="Corsiva" panose="03010101010201010101"/>
                  <a:ea typeface="Corsiva" panose="03010101010201010101"/>
                  <a:cs typeface="Corsiva" panose="03010101010201010101"/>
                  <a:sym typeface="Corsiva" panose="03010101010201010101"/>
                </a:endParaRPr>
              </a:p>
            </p:txBody>
          </p:sp>
        </p:grpSp>
        <p:sp>
          <p:nvSpPr>
            <p:cNvPr id="2271" name="Google Shape;2271;p103"/>
            <p:cNvSpPr txBox="1"/>
            <p:nvPr/>
          </p:nvSpPr>
          <p:spPr>
            <a:xfrm>
              <a:off x="1008" y="2122"/>
              <a:ext cx="797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DD0111"/>
                  </a:solidFill>
                  <a:latin typeface="Corsiva" panose="03010101010201010101"/>
                  <a:ea typeface="Corsiva" panose="03010101010201010101"/>
                  <a:cs typeface="Corsiva" panose="03010101010201010101"/>
                  <a:sym typeface="Corsiva" panose="03010101010201010101"/>
                </a:rPr>
                <a:t>Key </a:t>
              </a:r>
              <a:r>
                <a:rPr lang="en-US" sz="1600">
                  <a:solidFill>
                    <a:srgbClr val="DD011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[</a:t>
              </a:r>
              <a:r>
                <a:rPr lang="en-US" sz="1600">
                  <a:solidFill>
                    <a:srgbClr val="DD0111"/>
                  </a:solidFill>
                  <a:latin typeface="Corsiva" panose="03010101010201010101"/>
                  <a:ea typeface="Corsiva" panose="03010101010201010101"/>
                  <a:cs typeface="Corsiva" panose="03010101010201010101"/>
                  <a:sym typeface="Corsiva" panose="03010101010201010101"/>
                </a:rPr>
                <a:t>i </a:t>
              </a:r>
              <a:r>
                <a:rPr lang="en-US" sz="1600">
                  <a:solidFill>
                    <a:srgbClr val="DD011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] ← 15</a:t>
              </a:r>
              <a:endParaRPr lang="en-US" sz="1600">
                <a:solidFill>
                  <a:srgbClr val="DD011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272" name="Google Shape;2272;p103"/>
          <p:cNvGrpSpPr/>
          <p:nvPr/>
        </p:nvGrpSpPr>
        <p:grpSpPr>
          <a:xfrm>
            <a:off x="5133975" y="1355725"/>
            <a:ext cx="2943225" cy="1844675"/>
            <a:chOff x="3445" y="854"/>
            <a:chExt cx="1854" cy="1162"/>
          </a:xfrm>
        </p:grpSpPr>
        <p:grpSp>
          <p:nvGrpSpPr>
            <p:cNvPr id="2273" name="Google Shape;2273;p103"/>
            <p:cNvGrpSpPr/>
            <p:nvPr/>
          </p:nvGrpSpPr>
          <p:grpSpPr>
            <a:xfrm>
              <a:off x="3445" y="854"/>
              <a:ext cx="1854" cy="1162"/>
              <a:chOff x="328" y="1879"/>
              <a:chExt cx="1854" cy="1162"/>
            </a:xfrm>
          </p:grpSpPr>
          <p:cxnSp>
            <p:nvCxnSpPr>
              <p:cNvPr id="2274" name="Google Shape;2274;p103"/>
              <p:cNvCxnSpPr/>
              <p:nvPr/>
            </p:nvCxnSpPr>
            <p:spPr>
              <a:xfrm rot="10800000" flipH="1">
                <a:off x="1042" y="2691"/>
                <a:ext cx="259" cy="2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5" name="Google Shape;2275;p103"/>
              <p:cNvCxnSpPr/>
              <p:nvPr/>
            </p:nvCxnSpPr>
            <p:spPr>
              <a:xfrm rot="10800000" flipH="1">
                <a:off x="1509" y="2404"/>
                <a:ext cx="322" cy="3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6" name="Google Shape;2276;p103"/>
              <p:cNvCxnSpPr/>
              <p:nvPr/>
            </p:nvCxnSpPr>
            <p:spPr>
              <a:xfrm rot="5400000" flipH="1">
                <a:off x="608" y="2649"/>
                <a:ext cx="322" cy="3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7" name="Google Shape;2277;p103"/>
              <p:cNvCxnSpPr/>
              <p:nvPr/>
            </p:nvCxnSpPr>
            <p:spPr>
              <a:xfrm rot="5400000" flipH="1">
                <a:off x="949" y="2399"/>
                <a:ext cx="322" cy="3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8" name="Google Shape;2278;p103"/>
              <p:cNvCxnSpPr/>
              <p:nvPr/>
            </p:nvCxnSpPr>
            <p:spPr>
              <a:xfrm rot="5400000" flipH="1">
                <a:off x="1345" y="1947"/>
                <a:ext cx="806" cy="7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9" name="Google Shape;2279;p103"/>
              <p:cNvCxnSpPr/>
              <p:nvPr/>
            </p:nvCxnSpPr>
            <p:spPr>
              <a:xfrm rot="10800000" flipH="1">
                <a:off x="434" y="1975"/>
                <a:ext cx="1008" cy="9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80" name="Google Shape;2280;p103"/>
              <p:cNvSpPr/>
              <p:nvPr/>
            </p:nvSpPr>
            <p:spPr>
              <a:xfrm>
                <a:off x="578" y="258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8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81" name="Google Shape;2281;p103"/>
              <p:cNvSpPr/>
              <p:nvPr/>
            </p:nvSpPr>
            <p:spPr>
              <a:xfrm>
                <a:off x="328" y="283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2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82" name="Google Shape;2282;p103"/>
              <p:cNvSpPr/>
              <p:nvPr/>
            </p:nvSpPr>
            <p:spPr>
              <a:xfrm>
                <a:off x="770" y="283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38100" cap="flat" cmpd="sng">
                <a:solidFill>
                  <a:srgbClr val="DD0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15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83" name="Google Shape;2283;p103"/>
              <p:cNvSpPr/>
              <p:nvPr/>
            </p:nvSpPr>
            <p:spPr>
              <a:xfrm>
                <a:off x="866" y="2311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14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84" name="Google Shape;2284;p103"/>
              <p:cNvSpPr/>
              <p:nvPr/>
            </p:nvSpPr>
            <p:spPr>
              <a:xfrm>
                <a:off x="1154" y="258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7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85" name="Google Shape;2285;p103"/>
              <p:cNvSpPr/>
              <p:nvPr/>
            </p:nvSpPr>
            <p:spPr>
              <a:xfrm>
                <a:off x="1010" y="283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86" name="Google Shape;2286;p103"/>
              <p:cNvSpPr/>
              <p:nvPr/>
            </p:nvSpPr>
            <p:spPr>
              <a:xfrm>
                <a:off x="1322" y="187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16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87" name="Google Shape;2287;p103"/>
              <p:cNvSpPr/>
              <p:nvPr/>
            </p:nvSpPr>
            <p:spPr>
              <a:xfrm>
                <a:off x="1728" y="2311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10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88" name="Google Shape;2288;p103"/>
              <p:cNvSpPr/>
              <p:nvPr/>
            </p:nvSpPr>
            <p:spPr>
              <a:xfrm>
                <a:off x="1404" y="258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9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89" name="Google Shape;2289;p103"/>
              <p:cNvSpPr/>
              <p:nvPr/>
            </p:nvSpPr>
            <p:spPr>
              <a:xfrm>
                <a:off x="1980" y="2589"/>
                <a:ext cx="202" cy="202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</a:t>
                </a:r>
                <a:endPara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90" name="Google Shape;2290;p103"/>
              <p:cNvSpPr txBox="1"/>
              <p:nvPr/>
            </p:nvSpPr>
            <p:spPr>
              <a:xfrm>
                <a:off x="794" y="2655"/>
                <a:ext cx="15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rsiva" panose="03010101010201010101"/>
                    <a:ea typeface="Corsiva" panose="03010101010201010101"/>
                    <a:cs typeface="Corsiva" panose="03010101010201010101"/>
                    <a:sym typeface="Corsiva" panose="03010101010201010101"/>
                  </a:rPr>
                  <a:t>i</a:t>
                </a:r>
                <a:endParaRPr lang="en-US" sz="1800">
                  <a:solidFill>
                    <a:schemeClr val="dk1"/>
                  </a:solidFill>
                  <a:latin typeface="Corsiva" panose="03010101010201010101"/>
                  <a:ea typeface="Corsiva" panose="03010101010201010101"/>
                  <a:cs typeface="Corsiva" panose="03010101010201010101"/>
                  <a:sym typeface="Corsiva" panose="03010101010201010101"/>
                </a:endParaRPr>
              </a:p>
            </p:txBody>
          </p:sp>
        </p:grpSp>
        <p:sp>
          <p:nvSpPr>
            <p:cNvPr id="2291" name="Google Shape;2291;p103"/>
            <p:cNvSpPr/>
            <p:nvPr/>
          </p:nvSpPr>
          <p:spPr>
            <a:xfrm>
              <a:off x="3728" y="1776"/>
              <a:ext cx="112" cy="144"/>
            </a:xfrm>
            <a:custGeom>
              <a:avLst/>
              <a:gdLst/>
              <a:ahLst/>
              <a:cxnLst/>
              <a:rect l="l" t="t" r="r" b="b"/>
              <a:pathLst>
                <a:path w="112" h="144" extrusionOk="0">
                  <a:moveTo>
                    <a:pt x="16" y="0"/>
                  </a:moveTo>
                  <a:cubicBezTo>
                    <a:pt x="8" y="36"/>
                    <a:pt x="0" y="72"/>
                    <a:pt x="16" y="96"/>
                  </a:cubicBezTo>
                  <a:cubicBezTo>
                    <a:pt x="32" y="120"/>
                    <a:pt x="72" y="132"/>
                    <a:pt x="112" y="144"/>
                  </a:cubicBezTo>
                </a:path>
              </a:pathLst>
            </a:custGeom>
            <a:noFill/>
            <a:ln w="9525" cap="flat" cmpd="sng">
              <a:solidFill>
                <a:srgbClr val="DD0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292" name="Google Shape;2292;p103"/>
          <p:cNvGrpSpPr/>
          <p:nvPr/>
        </p:nvGrpSpPr>
        <p:grpSpPr>
          <a:xfrm>
            <a:off x="862013" y="4098925"/>
            <a:ext cx="2943225" cy="1844675"/>
            <a:chOff x="543" y="2582"/>
            <a:chExt cx="1854" cy="1162"/>
          </a:xfrm>
        </p:grpSpPr>
        <p:cxnSp>
          <p:nvCxnSpPr>
            <p:cNvPr id="2293" name="Google Shape;2293;p103"/>
            <p:cNvCxnSpPr/>
            <p:nvPr/>
          </p:nvCxnSpPr>
          <p:spPr>
            <a:xfrm rot="10800000" flipH="1">
              <a:off x="1257" y="3394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4" name="Google Shape;2294;p103"/>
            <p:cNvCxnSpPr/>
            <p:nvPr/>
          </p:nvCxnSpPr>
          <p:spPr>
            <a:xfrm rot="10800000" flipH="1">
              <a:off x="1724" y="3107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5" name="Google Shape;2295;p103"/>
            <p:cNvCxnSpPr/>
            <p:nvPr/>
          </p:nvCxnSpPr>
          <p:spPr>
            <a:xfrm rot="5400000" flipH="1">
              <a:off x="823" y="335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6" name="Google Shape;2296;p103"/>
            <p:cNvCxnSpPr/>
            <p:nvPr/>
          </p:nvCxnSpPr>
          <p:spPr>
            <a:xfrm rot="5400000" flipH="1">
              <a:off x="1164" y="310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7" name="Google Shape;2297;p103"/>
            <p:cNvCxnSpPr/>
            <p:nvPr/>
          </p:nvCxnSpPr>
          <p:spPr>
            <a:xfrm rot="5400000" flipH="1">
              <a:off x="1560" y="2650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8" name="Google Shape;2298;p103"/>
            <p:cNvCxnSpPr/>
            <p:nvPr/>
          </p:nvCxnSpPr>
          <p:spPr>
            <a:xfrm rot="10800000" flipH="1">
              <a:off x="649" y="2678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99" name="Google Shape;2299;p103"/>
            <p:cNvSpPr/>
            <p:nvPr/>
          </p:nvSpPr>
          <p:spPr>
            <a:xfrm>
              <a:off x="793" y="3292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DD0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15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0" name="Google Shape;2300;p103"/>
            <p:cNvSpPr/>
            <p:nvPr/>
          </p:nvSpPr>
          <p:spPr>
            <a:xfrm>
              <a:off x="543" y="354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1" name="Google Shape;2301;p103"/>
            <p:cNvSpPr/>
            <p:nvPr/>
          </p:nvSpPr>
          <p:spPr>
            <a:xfrm>
              <a:off x="985" y="354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2" name="Google Shape;2302;p103"/>
            <p:cNvSpPr/>
            <p:nvPr/>
          </p:nvSpPr>
          <p:spPr>
            <a:xfrm>
              <a:off x="1081" y="301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3" name="Google Shape;2303;p103"/>
            <p:cNvSpPr/>
            <p:nvPr/>
          </p:nvSpPr>
          <p:spPr>
            <a:xfrm>
              <a:off x="1369" y="329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4" name="Google Shape;2304;p103"/>
            <p:cNvSpPr/>
            <p:nvPr/>
          </p:nvSpPr>
          <p:spPr>
            <a:xfrm>
              <a:off x="1225" y="354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5" name="Google Shape;2305;p103"/>
            <p:cNvSpPr/>
            <p:nvPr/>
          </p:nvSpPr>
          <p:spPr>
            <a:xfrm>
              <a:off x="1537" y="258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6" name="Google Shape;2306;p103"/>
            <p:cNvSpPr/>
            <p:nvPr/>
          </p:nvSpPr>
          <p:spPr>
            <a:xfrm>
              <a:off x="1943" y="301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7" name="Google Shape;2307;p103"/>
            <p:cNvSpPr/>
            <p:nvPr/>
          </p:nvSpPr>
          <p:spPr>
            <a:xfrm>
              <a:off x="1619" y="329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8" name="Google Shape;2308;p103"/>
            <p:cNvSpPr/>
            <p:nvPr/>
          </p:nvSpPr>
          <p:spPr>
            <a:xfrm>
              <a:off x="2195" y="329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9" name="Google Shape;2309;p103"/>
            <p:cNvSpPr txBox="1"/>
            <p:nvPr/>
          </p:nvSpPr>
          <p:spPr>
            <a:xfrm>
              <a:off x="816" y="3120"/>
              <a:ext cx="151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rsiva" panose="03010101010201010101"/>
                  <a:ea typeface="Corsiva" panose="03010101010201010101"/>
                  <a:cs typeface="Corsiva" panose="03010101010201010101"/>
                  <a:sym typeface="Corsiva" panose="03010101010201010101"/>
                </a:rPr>
                <a:t>i</a:t>
              </a:r>
              <a:endParaRPr lang="en-US" sz="1800">
                <a:solidFill>
                  <a:schemeClr val="dk1"/>
                </a:solidFill>
                <a:latin typeface="Corsiva" panose="03010101010201010101"/>
                <a:ea typeface="Corsiva" panose="03010101010201010101"/>
                <a:cs typeface="Corsiva" panose="03010101010201010101"/>
                <a:sym typeface="Corsiva" panose="03010101010201010101"/>
              </a:endParaRPr>
            </a:p>
          </p:txBody>
        </p:sp>
        <p:sp>
          <p:nvSpPr>
            <p:cNvPr id="2310" name="Google Shape;2310;p103"/>
            <p:cNvSpPr/>
            <p:nvPr/>
          </p:nvSpPr>
          <p:spPr>
            <a:xfrm>
              <a:off x="816" y="3072"/>
              <a:ext cx="240" cy="192"/>
            </a:xfrm>
            <a:custGeom>
              <a:avLst/>
              <a:gdLst/>
              <a:ahLst/>
              <a:cxnLst/>
              <a:rect l="l" t="t" r="r" b="b"/>
              <a:pathLst>
                <a:path w="240" h="192" extrusionOk="0">
                  <a:moveTo>
                    <a:pt x="0" y="192"/>
                  </a:moveTo>
                  <a:cubicBezTo>
                    <a:pt x="4" y="136"/>
                    <a:pt x="8" y="80"/>
                    <a:pt x="48" y="48"/>
                  </a:cubicBezTo>
                  <a:cubicBezTo>
                    <a:pt x="88" y="16"/>
                    <a:pt x="164" y="8"/>
                    <a:pt x="240" y="0"/>
                  </a:cubicBezTo>
                </a:path>
              </a:pathLst>
            </a:custGeom>
            <a:noFill/>
            <a:ln w="9525" cap="flat" cmpd="sng">
              <a:solidFill>
                <a:srgbClr val="DD0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104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317" name="Google Shape;2317;p104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HEAP-INCREASE-KEY</a:t>
            </a:r>
            <a:endParaRPr lang="en-US" sz="4400"/>
          </a:p>
        </p:txBody>
      </p:sp>
      <p:sp>
        <p:nvSpPr>
          <p:cNvPr id="2318" name="Google Shape;2318;p104"/>
          <p:cNvSpPr txBox="1"/>
          <p:nvPr>
            <p:ph type="body" idx="1"/>
          </p:nvPr>
        </p:nvSpPr>
        <p:spPr>
          <a:xfrm>
            <a:off x="350838" y="1425575"/>
            <a:ext cx="8259762" cy="472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Clr>
                <a:srgbClr val="DD0111"/>
              </a:buClr>
              <a:buSzPts val="2800"/>
              <a:buFont typeface="Corsiva" panose="03010101010201010101"/>
              <a:buNone/>
            </a:pPr>
            <a:r>
              <a:rPr lang="en-US">
                <a:solidFill>
                  <a:srgbClr val="DD0111"/>
                </a:solidFill>
                <a:latin typeface="Corsiva" panose="03010101010201010101"/>
                <a:ea typeface="Corsiva" panose="03010101010201010101"/>
                <a:cs typeface="Corsiva" panose="03010101010201010101"/>
                <a:sym typeface="Corsiva" panose="03010101010201010101"/>
              </a:rPr>
              <a:t>Alg:</a:t>
            </a:r>
            <a:r>
              <a:rPr lang="en-US"/>
              <a:t> HEAP-INCREASE-KEY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(A, i, key)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None/>
            </a:pPr>
            <a:endParaRPr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</a:t>
            </a:r>
            <a:r>
              <a:rPr lang="en-US" sz="2400" b="1"/>
              <a:t>if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key &lt; A[i]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   </a:t>
            </a:r>
            <a:r>
              <a:rPr lang="en-US" sz="2400" b="1"/>
              <a:t>then error </a:t>
            </a:r>
            <a:r>
              <a:rPr lang="en-US" sz="2400"/>
              <a:t>“new key is smaller than current key”</a:t>
            </a:r>
            <a:endParaRPr lang="en-US" sz="2400"/>
          </a:p>
          <a:p>
            <a:pPr marL="533400" lvl="0" indent="-5334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A[i] ← key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</a:t>
            </a:r>
            <a:r>
              <a:rPr lang="en-US" sz="2400" b="1"/>
              <a:t>while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i &gt; 1</a:t>
            </a:r>
            <a:r>
              <a:rPr lang="en-US" sz="2400"/>
              <a:t> and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A[PARENT(i)] &lt; A[i]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    </a:t>
            </a:r>
            <a:r>
              <a:rPr lang="en-US" sz="2400" b="1"/>
              <a:t>do </a:t>
            </a:r>
            <a:r>
              <a:rPr lang="en-US" sz="2400"/>
              <a:t>exchange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A[i] ↔ A[PARENT(i)]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AutoNum type="arabicPeriod"/>
            </a:pPr>
            <a:r>
              <a:rPr lang="en-US" sz="2400"/>
              <a:t>          </a:t>
            </a:r>
            <a:r>
              <a:rPr lang="en-US" sz="2400">
                <a:latin typeface="Corsiva" panose="03010101010201010101"/>
                <a:ea typeface="Corsiva" panose="03010101010201010101"/>
                <a:cs typeface="Corsiva" panose="03010101010201010101"/>
                <a:sym typeface="Corsiva" panose="03010101010201010101"/>
              </a:rPr>
              <a:t>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i ← PARENT(i)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None/>
            </a:pPr>
            <a:endParaRPr sz="2400"/>
          </a:p>
          <a:p>
            <a:pPr marL="533400" lvl="0" indent="-5334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/>
              <a:buChar char="•"/>
            </a:pPr>
            <a:r>
              <a:rPr lang="en-US" sz="2400"/>
              <a:t>Running time: </a:t>
            </a:r>
            <a:r>
              <a:rPr lang="en-US" sz="24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O(lgn)</a:t>
            </a:r>
            <a:endParaRPr lang="en-US"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grpSp>
        <p:nvGrpSpPr>
          <p:cNvPr id="2319" name="Google Shape;2319;p104"/>
          <p:cNvGrpSpPr/>
          <p:nvPr/>
        </p:nvGrpSpPr>
        <p:grpSpPr>
          <a:xfrm>
            <a:off x="5875338" y="3760788"/>
            <a:ext cx="2943225" cy="1844675"/>
            <a:chOff x="328" y="1879"/>
            <a:chExt cx="1854" cy="1162"/>
          </a:xfrm>
        </p:grpSpPr>
        <p:cxnSp>
          <p:nvCxnSpPr>
            <p:cNvPr id="2320" name="Google Shape;2320;p104"/>
            <p:cNvCxnSpPr/>
            <p:nvPr/>
          </p:nvCxnSpPr>
          <p:spPr>
            <a:xfrm rot="10800000" flipH="1">
              <a:off x="1042" y="2691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1" name="Google Shape;2321;p104"/>
            <p:cNvCxnSpPr/>
            <p:nvPr/>
          </p:nvCxnSpPr>
          <p:spPr>
            <a:xfrm rot="10800000" flipH="1">
              <a:off x="1509" y="2404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2" name="Google Shape;2322;p104"/>
            <p:cNvCxnSpPr/>
            <p:nvPr/>
          </p:nvCxnSpPr>
          <p:spPr>
            <a:xfrm rot="5400000" flipH="1">
              <a:off x="608" y="2649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3" name="Google Shape;2323;p104"/>
            <p:cNvCxnSpPr/>
            <p:nvPr/>
          </p:nvCxnSpPr>
          <p:spPr>
            <a:xfrm rot="5400000" flipH="1">
              <a:off x="949" y="2399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4" name="Google Shape;2324;p104"/>
            <p:cNvCxnSpPr/>
            <p:nvPr/>
          </p:nvCxnSpPr>
          <p:spPr>
            <a:xfrm rot="5400000" flipH="1">
              <a:off x="1345" y="1947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5" name="Google Shape;2325;p104"/>
            <p:cNvCxnSpPr/>
            <p:nvPr/>
          </p:nvCxnSpPr>
          <p:spPr>
            <a:xfrm rot="10800000" flipH="1">
              <a:off x="434" y="1975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6" name="Google Shape;2326;p104"/>
            <p:cNvSpPr/>
            <p:nvPr/>
          </p:nvSpPr>
          <p:spPr>
            <a:xfrm>
              <a:off x="578" y="258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7" name="Google Shape;2327;p104"/>
            <p:cNvSpPr/>
            <p:nvPr/>
          </p:nvSpPr>
          <p:spPr>
            <a:xfrm>
              <a:off x="328" y="283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8" name="Google Shape;2328;p104"/>
            <p:cNvSpPr/>
            <p:nvPr/>
          </p:nvSpPr>
          <p:spPr>
            <a:xfrm>
              <a:off x="770" y="2839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rgbClr val="DD0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9" name="Google Shape;2329;p104"/>
            <p:cNvSpPr/>
            <p:nvPr/>
          </p:nvSpPr>
          <p:spPr>
            <a:xfrm>
              <a:off x="866" y="2311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0" name="Google Shape;2330;p104"/>
            <p:cNvSpPr/>
            <p:nvPr/>
          </p:nvSpPr>
          <p:spPr>
            <a:xfrm>
              <a:off x="1154" y="258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1" name="Google Shape;2331;p104"/>
            <p:cNvSpPr/>
            <p:nvPr/>
          </p:nvSpPr>
          <p:spPr>
            <a:xfrm>
              <a:off x="1010" y="283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2" name="Google Shape;2332;p104"/>
            <p:cNvSpPr/>
            <p:nvPr/>
          </p:nvSpPr>
          <p:spPr>
            <a:xfrm>
              <a:off x="1322" y="187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3" name="Google Shape;2333;p104"/>
            <p:cNvSpPr/>
            <p:nvPr/>
          </p:nvSpPr>
          <p:spPr>
            <a:xfrm>
              <a:off x="1728" y="2311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4" name="Google Shape;2334;p104"/>
            <p:cNvSpPr/>
            <p:nvPr/>
          </p:nvSpPr>
          <p:spPr>
            <a:xfrm>
              <a:off x="1404" y="258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5" name="Google Shape;2335;p104"/>
            <p:cNvSpPr/>
            <p:nvPr/>
          </p:nvSpPr>
          <p:spPr>
            <a:xfrm>
              <a:off x="1980" y="258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6" name="Google Shape;2336;p104"/>
            <p:cNvSpPr txBox="1"/>
            <p:nvPr/>
          </p:nvSpPr>
          <p:spPr>
            <a:xfrm>
              <a:off x="794" y="2655"/>
              <a:ext cx="151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rsiva" panose="03010101010201010101"/>
                  <a:ea typeface="Corsiva" panose="03010101010201010101"/>
                  <a:cs typeface="Corsiva" panose="03010101010201010101"/>
                  <a:sym typeface="Corsiva" panose="03010101010201010101"/>
                </a:rPr>
                <a:t>i</a:t>
              </a:r>
              <a:endParaRPr lang="en-US" sz="1800">
                <a:solidFill>
                  <a:schemeClr val="dk1"/>
                </a:solidFill>
                <a:latin typeface="Corsiva" panose="03010101010201010101"/>
                <a:ea typeface="Corsiva" panose="03010101010201010101"/>
                <a:cs typeface="Corsiva" panose="03010101010201010101"/>
                <a:sym typeface="Corsiva" panose="03010101010201010101"/>
              </a:endParaRPr>
            </a:p>
          </p:txBody>
        </p:sp>
      </p:grpSp>
      <p:sp>
        <p:nvSpPr>
          <p:cNvPr id="2337" name="Google Shape;2337;p104"/>
          <p:cNvSpPr txBox="1"/>
          <p:nvPr/>
        </p:nvSpPr>
        <p:spPr>
          <a:xfrm>
            <a:off x="6573838" y="5686425"/>
            <a:ext cx="1625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D0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Key [i]</a:t>
            </a:r>
            <a:r>
              <a:rPr lang="en-US" sz="2000">
                <a:solidFill>
                  <a:srgbClr val="DD011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← 15</a:t>
            </a:r>
            <a:endParaRPr lang="en-US" sz="2000">
              <a:solidFill>
                <a:srgbClr val="DD011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105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2344" name="Google Shape;2344;p105"/>
          <p:cNvGrpSpPr/>
          <p:nvPr/>
        </p:nvGrpSpPr>
        <p:grpSpPr>
          <a:xfrm>
            <a:off x="7163593" y="2870994"/>
            <a:ext cx="565944" cy="634206"/>
            <a:chOff x="4512" y="2352"/>
            <a:chExt cx="356" cy="399"/>
          </a:xfrm>
        </p:grpSpPr>
        <p:cxnSp>
          <p:nvCxnSpPr>
            <p:cNvPr id="2345" name="Google Shape;2345;p105"/>
            <p:cNvCxnSpPr/>
            <p:nvPr/>
          </p:nvCxnSpPr>
          <p:spPr>
            <a:xfrm rot="5400000" flipH="1">
              <a:off x="4505" y="2359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46" name="Google Shape;2346;p105"/>
            <p:cNvSpPr/>
            <p:nvPr/>
          </p:nvSpPr>
          <p:spPr>
            <a:xfrm>
              <a:off x="4667" y="2549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-∞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347" name="Google Shape;2347;p105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MAX-HEAP-INSERT</a:t>
            </a:r>
            <a:endParaRPr lang="en-US"/>
          </a:p>
        </p:txBody>
      </p:sp>
      <p:sp>
        <p:nvSpPr>
          <p:cNvPr id="2348" name="Google Shape;2348;p105"/>
          <p:cNvSpPr txBox="1"/>
          <p:nvPr>
            <p:ph type="body" idx="1"/>
          </p:nvPr>
        </p:nvSpPr>
        <p:spPr>
          <a:xfrm>
            <a:off x="350838" y="1214438"/>
            <a:ext cx="5592762" cy="533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US"/>
              <a:t>Goal:</a:t>
            </a:r>
            <a:endParaRPr lang="en-US"/>
          </a:p>
          <a:p>
            <a:pPr marL="74295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Inserts a new element into a max-heap</a:t>
            </a:r>
            <a:endParaRPr lang="en-US"/>
          </a:p>
          <a:p>
            <a:pPr marL="342900" lvl="0" indent="-342900" algn="l" rtl="0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US"/>
              <a:t>Idea:</a:t>
            </a:r>
            <a:endParaRPr lang="en-US"/>
          </a:p>
          <a:p>
            <a:pPr marL="74295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Expand the max-heap with a new element whose key is -∞</a:t>
            </a:r>
            <a:endParaRPr lang="en-US"/>
          </a:p>
          <a:p>
            <a:pPr marL="74295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Calls HEAP-INCREASE-KEY to set the key of the new node to its correct value and maintain the max-heap property</a:t>
            </a:r>
            <a:endParaRPr lang="en-US"/>
          </a:p>
        </p:txBody>
      </p:sp>
      <p:cxnSp>
        <p:nvCxnSpPr>
          <p:cNvPr id="2349" name="Google Shape;2349;p105"/>
          <p:cNvCxnSpPr/>
          <p:nvPr/>
        </p:nvCxnSpPr>
        <p:spPr>
          <a:xfrm rot="10800000" flipH="1">
            <a:off x="6924675" y="2941638"/>
            <a:ext cx="411163" cy="3921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0" name="Google Shape;2350;p105"/>
          <p:cNvCxnSpPr/>
          <p:nvPr/>
        </p:nvCxnSpPr>
        <p:spPr>
          <a:xfrm rot="10800000" flipH="1">
            <a:off x="7666038" y="2486025"/>
            <a:ext cx="511175" cy="4873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1" name="Google Shape;2351;p105"/>
          <p:cNvCxnSpPr/>
          <p:nvPr/>
        </p:nvCxnSpPr>
        <p:spPr>
          <a:xfrm rot="5400000" flipH="1">
            <a:off x="6234906" y="2875757"/>
            <a:ext cx="511175" cy="4873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2" name="Google Shape;2352;p105"/>
          <p:cNvCxnSpPr/>
          <p:nvPr/>
        </p:nvCxnSpPr>
        <p:spPr>
          <a:xfrm rot="5400000" flipH="1">
            <a:off x="6776244" y="2478881"/>
            <a:ext cx="511175" cy="4873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3" name="Google Shape;2353;p105"/>
          <p:cNvCxnSpPr/>
          <p:nvPr/>
        </p:nvCxnSpPr>
        <p:spPr>
          <a:xfrm rot="5400000" flipH="1">
            <a:off x="7405687" y="1760538"/>
            <a:ext cx="1279525" cy="121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4" name="Google Shape;2354;p105"/>
          <p:cNvCxnSpPr/>
          <p:nvPr/>
        </p:nvCxnSpPr>
        <p:spPr>
          <a:xfrm rot="10800000" flipH="1">
            <a:off x="5959475" y="1804988"/>
            <a:ext cx="1600200" cy="15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5" name="Google Shape;2355;p105"/>
          <p:cNvSpPr/>
          <p:nvPr/>
        </p:nvSpPr>
        <p:spPr>
          <a:xfrm>
            <a:off x="6188075" y="2779713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56" name="Google Shape;2356;p105"/>
          <p:cNvSpPr/>
          <p:nvPr/>
        </p:nvSpPr>
        <p:spPr>
          <a:xfrm>
            <a:off x="5791200" y="31765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57" name="Google Shape;2357;p105"/>
          <p:cNvSpPr/>
          <p:nvPr/>
        </p:nvSpPr>
        <p:spPr>
          <a:xfrm>
            <a:off x="6492875" y="31765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58" name="Google Shape;2358;p105"/>
          <p:cNvSpPr/>
          <p:nvPr/>
        </p:nvSpPr>
        <p:spPr>
          <a:xfrm>
            <a:off x="6645275" y="23383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59" name="Google Shape;2359;p105"/>
          <p:cNvSpPr/>
          <p:nvPr/>
        </p:nvSpPr>
        <p:spPr>
          <a:xfrm>
            <a:off x="7102475" y="2779713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60" name="Google Shape;2360;p105"/>
          <p:cNvSpPr/>
          <p:nvPr/>
        </p:nvSpPr>
        <p:spPr>
          <a:xfrm>
            <a:off x="6873875" y="31765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61" name="Google Shape;2361;p105"/>
          <p:cNvSpPr/>
          <p:nvPr/>
        </p:nvSpPr>
        <p:spPr>
          <a:xfrm>
            <a:off x="7369175" y="16525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62" name="Google Shape;2362;p105"/>
          <p:cNvSpPr/>
          <p:nvPr/>
        </p:nvSpPr>
        <p:spPr>
          <a:xfrm>
            <a:off x="8013700" y="23383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63" name="Google Shape;2363;p105"/>
          <p:cNvSpPr/>
          <p:nvPr/>
        </p:nvSpPr>
        <p:spPr>
          <a:xfrm>
            <a:off x="7499350" y="2779713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64" name="Google Shape;2364;p105"/>
          <p:cNvSpPr/>
          <p:nvPr/>
        </p:nvSpPr>
        <p:spPr>
          <a:xfrm>
            <a:off x="8413750" y="2779713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365" name="Google Shape;2365;p105"/>
          <p:cNvGrpSpPr/>
          <p:nvPr/>
        </p:nvGrpSpPr>
        <p:grpSpPr>
          <a:xfrm>
            <a:off x="5791200" y="3733800"/>
            <a:ext cx="2943225" cy="1852613"/>
            <a:chOff x="3648" y="2352"/>
            <a:chExt cx="1854" cy="1167"/>
          </a:xfrm>
        </p:grpSpPr>
        <p:cxnSp>
          <p:nvCxnSpPr>
            <p:cNvPr id="2366" name="Google Shape;2366;p105"/>
            <p:cNvCxnSpPr/>
            <p:nvPr/>
          </p:nvCxnSpPr>
          <p:spPr>
            <a:xfrm rot="5400000" flipH="1">
              <a:off x="4505" y="3127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67" name="Google Shape;2367;p105"/>
            <p:cNvSpPr/>
            <p:nvPr/>
          </p:nvSpPr>
          <p:spPr>
            <a:xfrm>
              <a:off x="4667" y="3317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15</a:t>
              </a: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2368" name="Google Shape;2368;p105"/>
            <p:cNvCxnSpPr/>
            <p:nvPr/>
          </p:nvCxnSpPr>
          <p:spPr>
            <a:xfrm rot="10800000" flipH="1">
              <a:off x="4362" y="3164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9" name="Google Shape;2369;p105"/>
            <p:cNvCxnSpPr/>
            <p:nvPr/>
          </p:nvCxnSpPr>
          <p:spPr>
            <a:xfrm rot="10800000" flipH="1">
              <a:off x="4829" y="2877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0" name="Google Shape;2370;p105"/>
            <p:cNvCxnSpPr/>
            <p:nvPr/>
          </p:nvCxnSpPr>
          <p:spPr>
            <a:xfrm rot="5400000" flipH="1">
              <a:off x="3928" y="312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1" name="Google Shape;2371;p105"/>
            <p:cNvCxnSpPr/>
            <p:nvPr/>
          </p:nvCxnSpPr>
          <p:spPr>
            <a:xfrm rot="5400000" flipH="1">
              <a:off x="4269" y="287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2" name="Google Shape;2372;p105"/>
            <p:cNvCxnSpPr/>
            <p:nvPr/>
          </p:nvCxnSpPr>
          <p:spPr>
            <a:xfrm rot="5400000" flipH="1">
              <a:off x="4665" y="2420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3" name="Google Shape;2373;p105"/>
            <p:cNvCxnSpPr/>
            <p:nvPr/>
          </p:nvCxnSpPr>
          <p:spPr>
            <a:xfrm rot="10800000" flipH="1">
              <a:off x="3754" y="2448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74" name="Google Shape;2374;p105"/>
            <p:cNvSpPr/>
            <p:nvPr/>
          </p:nvSpPr>
          <p:spPr>
            <a:xfrm>
              <a:off x="3898" y="306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5" name="Google Shape;2375;p105"/>
            <p:cNvSpPr/>
            <p:nvPr/>
          </p:nvSpPr>
          <p:spPr>
            <a:xfrm>
              <a:off x="3648" y="331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6" name="Google Shape;2376;p105"/>
            <p:cNvSpPr/>
            <p:nvPr/>
          </p:nvSpPr>
          <p:spPr>
            <a:xfrm>
              <a:off x="4090" y="331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7" name="Google Shape;2377;p105"/>
            <p:cNvSpPr/>
            <p:nvPr/>
          </p:nvSpPr>
          <p:spPr>
            <a:xfrm>
              <a:off x="4186" y="278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8" name="Google Shape;2378;p105"/>
            <p:cNvSpPr/>
            <p:nvPr/>
          </p:nvSpPr>
          <p:spPr>
            <a:xfrm>
              <a:off x="4474" y="306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9" name="Google Shape;2379;p105"/>
            <p:cNvSpPr/>
            <p:nvPr/>
          </p:nvSpPr>
          <p:spPr>
            <a:xfrm>
              <a:off x="4330" y="331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0" name="Google Shape;2380;p105"/>
            <p:cNvSpPr/>
            <p:nvPr/>
          </p:nvSpPr>
          <p:spPr>
            <a:xfrm>
              <a:off x="4642" y="235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1" name="Google Shape;2381;p105"/>
            <p:cNvSpPr/>
            <p:nvPr/>
          </p:nvSpPr>
          <p:spPr>
            <a:xfrm>
              <a:off x="5048" y="2784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2" name="Google Shape;2382;p105"/>
            <p:cNvSpPr/>
            <p:nvPr/>
          </p:nvSpPr>
          <p:spPr>
            <a:xfrm>
              <a:off x="4724" y="306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3" name="Google Shape;2383;p105"/>
            <p:cNvSpPr/>
            <p:nvPr/>
          </p:nvSpPr>
          <p:spPr>
            <a:xfrm>
              <a:off x="5300" y="306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106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390" name="Google Shape;2390;p106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</a:t>
            </a:r>
            <a:r>
              <a:rPr lang="en-US" sz="2800"/>
              <a:t>MAX-HEAP-INSERT</a:t>
            </a:r>
            <a:endParaRPr lang="en-US" sz="2800"/>
          </a:p>
        </p:txBody>
      </p:sp>
      <p:grpSp>
        <p:nvGrpSpPr>
          <p:cNvPr id="2391" name="Google Shape;2391;p106"/>
          <p:cNvGrpSpPr/>
          <p:nvPr/>
        </p:nvGrpSpPr>
        <p:grpSpPr>
          <a:xfrm>
            <a:off x="1635919" y="3105944"/>
            <a:ext cx="565944" cy="634206"/>
            <a:chOff x="4512" y="2352"/>
            <a:chExt cx="356" cy="399"/>
          </a:xfrm>
        </p:grpSpPr>
        <p:cxnSp>
          <p:nvCxnSpPr>
            <p:cNvPr id="2392" name="Google Shape;2392;p106"/>
            <p:cNvCxnSpPr/>
            <p:nvPr/>
          </p:nvCxnSpPr>
          <p:spPr>
            <a:xfrm rot="5400000" flipH="1">
              <a:off x="4505" y="2359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93" name="Google Shape;2393;p106"/>
            <p:cNvSpPr/>
            <p:nvPr/>
          </p:nvSpPr>
          <p:spPr>
            <a:xfrm>
              <a:off x="4667" y="2549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-∞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394" name="Google Shape;2394;p106"/>
          <p:cNvGrpSpPr/>
          <p:nvPr/>
        </p:nvGrpSpPr>
        <p:grpSpPr>
          <a:xfrm>
            <a:off x="263525" y="1179513"/>
            <a:ext cx="3017838" cy="2552700"/>
            <a:chOff x="166" y="743"/>
            <a:chExt cx="1901" cy="1608"/>
          </a:xfrm>
        </p:grpSpPr>
        <p:cxnSp>
          <p:nvCxnSpPr>
            <p:cNvPr id="2395" name="Google Shape;2395;p106"/>
            <p:cNvCxnSpPr/>
            <p:nvPr/>
          </p:nvCxnSpPr>
          <p:spPr>
            <a:xfrm rot="10800000" flipH="1">
              <a:off x="880" y="2001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6" name="Google Shape;2396;p106"/>
            <p:cNvCxnSpPr/>
            <p:nvPr/>
          </p:nvCxnSpPr>
          <p:spPr>
            <a:xfrm rot="10800000" flipH="1">
              <a:off x="1347" y="1714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7" name="Google Shape;2397;p106"/>
            <p:cNvCxnSpPr/>
            <p:nvPr/>
          </p:nvCxnSpPr>
          <p:spPr>
            <a:xfrm rot="5400000" flipH="1">
              <a:off x="446" y="1959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8" name="Google Shape;2398;p106"/>
            <p:cNvCxnSpPr/>
            <p:nvPr/>
          </p:nvCxnSpPr>
          <p:spPr>
            <a:xfrm rot="5400000" flipH="1">
              <a:off x="787" y="1709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9" name="Google Shape;2399;p106"/>
            <p:cNvCxnSpPr/>
            <p:nvPr/>
          </p:nvCxnSpPr>
          <p:spPr>
            <a:xfrm rot="5400000" flipH="1">
              <a:off x="1183" y="1257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0" name="Google Shape;2400;p106"/>
            <p:cNvCxnSpPr/>
            <p:nvPr/>
          </p:nvCxnSpPr>
          <p:spPr>
            <a:xfrm rot="10800000" flipH="1">
              <a:off x="272" y="1285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1" name="Google Shape;2401;p106"/>
            <p:cNvSpPr/>
            <p:nvPr/>
          </p:nvSpPr>
          <p:spPr>
            <a:xfrm>
              <a:off x="416" y="189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2" name="Google Shape;2402;p106"/>
            <p:cNvSpPr/>
            <p:nvPr/>
          </p:nvSpPr>
          <p:spPr>
            <a:xfrm>
              <a:off x="166" y="214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3" name="Google Shape;2403;p106"/>
            <p:cNvSpPr/>
            <p:nvPr/>
          </p:nvSpPr>
          <p:spPr>
            <a:xfrm>
              <a:off x="608" y="214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4" name="Google Shape;2404;p106"/>
            <p:cNvSpPr/>
            <p:nvPr/>
          </p:nvSpPr>
          <p:spPr>
            <a:xfrm>
              <a:off x="704" y="1621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5" name="Google Shape;2405;p106"/>
            <p:cNvSpPr/>
            <p:nvPr/>
          </p:nvSpPr>
          <p:spPr>
            <a:xfrm>
              <a:off x="992" y="189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6" name="Google Shape;2406;p106"/>
            <p:cNvSpPr/>
            <p:nvPr/>
          </p:nvSpPr>
          <p:spPr>
            <a:xfrm>
              <a:off x="848" y="214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7" name="Google Shape;2407;p106"/>
            <p:cNvSpPr/>
            <p:nvPr/>
          </p:nvSpPr>
          <p:spPr>
            <a:xfrm>
              <a:off x="1160" y="118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8" name="Google Shape;2408;p106"/>
            <p:cNvSpPr/>
            <p:nvPr/>
          </p:nvSpPr>
          <p:spPr>
            <a:xfrm>
              <a:off x="1566" y="1621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9" name="Google Shape;2409;p106"/>
            <p:cNvSpPr/>
            <p:nvPr/>
          </p:nvSpPr>
          <p:spPr>
            <a:xfrm>
              <a:off x="1242" y="189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0" name="Google Shape;2410;p106"/>
            <p:cNvSpPr/>
            <p:nvPr/>
          </p:nvSpPr>
          <p:spPr>
            <a:xfrm>
              <a:off x="1818" y="189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1" name="Google Shape;2411;p106"/>
            <p:cNvSpPr txBox="1"/>
            <p:nvPr/>
          </p:nvSpPr>
          <p:spPr>
            <a:xfrm>
              <a:off x="592" y="743"/>
              <a:ext cx="1475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Insert value 15: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 Start by inserting -∞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412" name="Google Shape;2412;p106"/>
          <p:cNvGrpSpPr/>
          <p:nvPr/>
        </p:nvGrpSpPr>
        <p:grpSpPr>
          <a:xfrm>
            <a:off x="4341813" y="1179513"/>
            <a:ext cx="4502150" cy="2557462"/>
            <a:chOff x="2735" y="743"/>
            <a:chExt cx="2836" cy="1611"/>
          </a:xfrm>
        </p:grpSpPr>
        <p:cxnSp>
          <p:nvCxnSpPr>
            <p:cNvPr id="2413" name="Google Shape;2413;p106"/>
            <p:cNvCxnSpPr/>
            <p:nvPr/>
          </p:nvCxnSpPr>
          <p:spPr>
            <a:xfrm rot="5400000" flipH="1">
              <a:off x="3592" y="196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14" name="Google Shape;2414;p106"/>
            <p:cNvSpPr/>
            <p:nvPr/>
          </p:nvSpPr>
          <p:spPr>
            <a:xfrm>
              <a:off x="3754" y="2152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15</a:t>
              </a:r>
              <a:endParaRPr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2415" name="Google Shape;2415;p106"/>
            <p:cNvCxnSpPr/>
            <p:nvPr/>
          </p:nvCxnSpPr>
          <p:spPr>
            <a:xfrm rot="10800000" flipH="1">
              <a:off x="3449" y="1999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6" name="Google Shape;2416;p106"/>
            <p:cNvCxnSpPr/>
            <p:nvPr/>
          </p:nvCxnSpPr>
          <p:spPr>
            <a:xfrm rot="10800000" flipH="1">
              <a:off x="3916" y="1712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7" name="Google Shape;2417;p106"/>
            <p:cNvCxnSpPr/>
            <p:nvPr/>
          </p:nvCxnSpPr>
          <p:spPr>
            <a:xfrm rot="5400000" flipH="1">
              <a:off x="3015" y="1957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8" name="Google Shape;2418;p106"/>
            <p:cNvCxnSpPr/>
            <p:nvPr/>
          </p:nvCxnSpPr>
          <p:spPr>
            <a:xfrm rot="5400000" flipH="1">
              <a:off x="3356" y="1707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9" name="Google Shape;2419;p106"/>
            <p:cNvCxnSpPr/>
            <p:nvPr/>
          </p:nvCxnSpPr>
          <p:spPr>
            <a:xfrm rot="5400000" flipH="1">
              <a:off x="3752" y="1255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0" name="Google Shape;2420;p106"/>
            <p:cNvCxnSpPr/>
            <p:nvPr/>
          </p:nvCxnSpPr>
          <p:spPr>
            <a:xfrm rot="10800000" flipH="1">
              <a:off x="2841" y="1283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21" name="Google Shape;2421;p106"/>
            <p:cNvSpPr/>
            <p:nvPr/>
          </p:nvSpPr>
          <p:spPr>
            <a:xfrm>
              <a:off x="2985" y="1897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2" name="Google Shape;2422;p106"/>
            <p:cNvSpPr/>
            <p:nvPr/>
          </p:nvSpPr>
          <p:spPr>
            <a:xfrm>
              <a:off x="2735" y="2147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3" name="Google Shape;2423;p106"/>
            <p:cNvSpPr/>
            <p:nvPr/>
          </p:nvSpPr>
          <p:spPr>
            <a:xfrm>
              <a:off x="3177" y="2147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4" name="Google Shape;2424;p106"/>
            <p:cNvSpPr/>
            <p:nvPr/>
          </p:nvSpPr>
          <p:spPr>
            <a:xfrm>
              <a:off x="3273" y="161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5" name="Google Shape;2425;p106"/>
            <p:cNvSpPr/>
            <p:nvPr/>
          </p:nvSpPr>
          <p:spPr>
            <a:xfrm>
              <a:off x="3561" y="1897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6" name="Google Shape;2426;p106"/>
            <p:cNvSpPr/>
            <p:nvPr/>
          </p:nvSpPr>
          <p:spPr>
            <a:xfrm>
              <a:off x="3417" y="2147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7" name="Google Shape;2427;p106"/>
            <p:cNvSpPr/>
            <p:nvPr/>
          </p:nvSpPr>
          <p:spPr>
            <a:xfrm>
              <a:off x="3729" y="1187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8" name="Google Shape;2428;p106"/>
            <p:cNvSpPr/>
            <p:nvPr/>
          </p:nvSpPr>
          <p:spPr>
            <a:xfrm>
              <a:off x="4135" y="1619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9" name="Google Shape;2429;p106"/>
            <p:cNvSpPr/>
            <p:nvPr/>
          </p:nvSpPr>
          <p:spPr>
            <a:xfrm>
              <a:off x="3811" y="1897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0" name="Google Shape;2430;p106"/>
            <p:cNvSpPr/>
            <p:nvPr/>
          </p:nvSpPr>
          <p:spPr>
            <a:xfrm>
              <a:off x="4387" y="1897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1" name="Google Shape;2431;p106"/>
            <p:cNvSpPr txBox="1"/>
            <p:nvPr/>
          </p:nvSpPr>
          <p:spPr>
            <a:xfrm>
              <a:off x="2755" y="743"/>
              <a:ext cx="2816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Increase the key to 15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Call HEAP-INCREASE-KEY on A[11] = 15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432" name="Google Shape;2432;p106"/>
          <p:cNvGrpSpPr/>
          <p:nvPr/>
        </p:nvGrpSpPr>
        <p:grpSpPr>
          <a:xfrm>
            <a:off x="327025" y="3998913"/>
            <a:ext cx="2943225" cy="2557462"/>
            <a:chOff x="206" y="2519"/>
            <a:chExt cx="1854" cy="1611"/>
          </a:xfrm>
        </p:grpSpPr>
        <p:cxnSp>
          <p:nvCxnSpPr>
            <p:cNvPr id="2433" name="Google Shape;2433;p106"/>
            <p:cNvCxnSpPr/>
            <p:nvPr/>
          </p:nvCxnSpPr>
          <p:spPr>
            <a:xfrm rot="5400000" flipH="1">
              <a:off x="1063" y="3738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34" name="Google Shape;2434;p106"/>
            <p:cNvSpPr/>
            <p:nvPr/>
          </p:nvSpPr>
          <p:spPr>
            <a:xfrm>
              <a:off x="1225" y="3928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2435" name="Google Shape;2435;p106"/>
            <p:cNvCxnSpPr/>
            <p:nvPr/>
          </p:nvCxnSpPr>
          <p:spPr>
            <a:xfrm rot="10800000" flipH="1">
              <a:off x="920" y="3775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6" name="Google Shape;2436;p106"/>
            <p:cNvCxnSpPr/>
            <p:nvPr/>
          </p:nvCxnSpPr>
          <p:spPr>
            <a:xfrm rot="10800000" flipH="1">
              <a:off x="1387" y="3488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7" name="Google Shape;2437;p106"/>
            <p:cNvCxnSpPr/>
            <p:nvPr/>
          </p:nvCxnSpPr>
          <p:spPr>
            <a:xfrm rot="5400000" flipH="1">
              <a:off x="486" y="3733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8" name="Google Shape;2438;p106"/>
            <p:cNvCxnSpPr/>
            <p:nvPr/>
          </p:nvCxnSpPr>
          <p:spPr>
            <a:xfrm rot="5400000" flipH="1">
              <a:off x="827" y="3483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9" name="Google Shape;2439;p106"/>
            <p:cNvCxnSpPr/>
            <p:nvPr/>
          </p:nvCxnSpPr>
          <p:spPr>
            <a:xfrm rot="5400000" flipH="1">
              <a:off x="1223" y="3031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0" name="Google Shape;2440;p106"/>
            <p:cNvCxnSpPr/>
            <p:nvPr/>
          </p:nvCxnSpPr>
          <p:spPr>
            <a:xfrm rot="10800000" flipH="1">
              <a:off x="312" y="3059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41" name="Google Shape;2441;p106"/>
            <p:cNvSpPr/>
            <p:nvPr/>
          </p:nvSpPr>
          <p:spPr>
            <a:xfrm>
              <a:off x="456" y="3673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2" name="Google Shape;2442;p106"/>
            <p:cNvSpPr/>
            <p:nvPr/>
          </p:nvSpPr>
          <p:spPr>
            <a:xfrm>
              <a:off x="206" y="3923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3" name="Google Shape;2443;p106"/>
            <p:cNvSpPr/>
            <p:nvPr/>
          </p:nvSpPr>
          <p:spPr>
            <a:xfrm>
              <a:off x="648" y="3923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4" name="Google Shape;2444;p106"/>
            <p:cNvSpPr/>
            <p:nvPr/>
          </p:nvSpPr>
          <p:spPr>
            <a:xfrm>
              <a:off x="744" y="3395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5" name="Google Shape;2445;p106"/>
            <p:cNvSpPr/>
            <p:nvPr/>
          </p:nvSpPr>
          <p:spPr>
            <a:xfrm>
              <a:off x="1032" y="3673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15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6" name="Google Shape;2446;p106"/>
            <p:cNvSpPr/>
            <p:nvPr/>
          </p:nvSpPr>
          <p:spPr>
            <a:xfrm>
              <a:off x="888" y="3923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7" name="Google Shape;2447;p106"/>
            <p:cNvSpPr/>
            <p:nvPr/>
          </p:nvSpPr>
          <p:spPr>
            <a:xfrm>
              <a:off x="1200" y="2963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8" name="Google Shape;2448;p106"/>
            <p:cNvSpPr/>
            <p:nvPr/>
          </p:nvSpPr>
          <p:spPr>
            <a:xfrm>
              <a:off x="1606" y="3395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9" name="Google Shape;2449;p106"/>
            <p:cNvSpPr/>
            <p:nvPr/>
          </p:nvSpPr>
          <p:spPr>
            <a:xfrm>
              <a:off x="1282" y="3673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0" name="Google Shape;2450;p106"/>
            <p:cNvSpPr/>
            <p:nvPr/>
          </p:nvSpPr>
          <p:spPr>
            <a:xfrm>
              <a:off x="1858" y="3673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1" name="Google Shape;2451;p106"/>
            <p:cNvSpPr txBox="1"/>
            <p:nvPr/>
          </p:nvSpPr>
          <p:spPr>
            <a:xfrm>
              <a:off x="492" y="2519"/>
              <a:ext cx="11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452" name="Google Shape;2452;p106"/>
          <p:cNvGrpSpPr/>
          <p:nvPr/>
        </p:nvGrpSpPr>
        <p:grpSpPr>
          <a:xfrm>
            <a:off x="4695825" y="3914775"/>
            <a:ext cx="3243263" cy="2557463"/>
            <a:chOff x="2958" y="2466"/>
            <a:chExt cx="2043" cy="1611"/>
          </a:xfrm>
        </p:grpSpPr>
        <p:cxnSp>
          <p:nvCxnSpPr>
            <p:cNvPr id="2453" name="Google Shape;2453;p106"/>
            <p:cNvCxnSpPr/>
            <p:nvPr/>
          </p:nvCxnSpPr>
          <p:spPr>
            <a:xfrm rot="5400000" flipH="1">
              <a:off x="3815" y="3685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54" name="Google Shape;2454;p106"/>
            <p:cNvSpPr/>
            <p:nvPr/>
          </p:nvSpPr>
          <p:spPr>
            <a:xfrm>
              <a:off x="3977" y="3875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7</a:t>
              </a:r>
              <a:endParaRPr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2455" name="Google Shape;2455;p106"/>
            <p:cNvCxnSpPr/>
            <p:nvPr/>
          </p:nvCxnSpPr>
          <p:spPr>
            <a:xfrm rot="10800000" flipH="1">
              <a:off x="3672" y="3722"/>
              <a:ext cx="259" cy="2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6" name="Google Shape;2456;p106"/>
            <p:cNvCxnSpPr/>
            <p:nvPr/>
          </p:nvCxnSpPr>
          <p:spPr>
            <a:xfrm rot="10800000" flipH="1">
              <a:off x="4139" y="3435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7" name="Google Shape;2457;p106"/>
            <p:cNvCxnSpPr/>
            <p:nvPr/>
          </p:nvCxnSpPr>
          <p:spPr>
            <a:xfrm rot="5400000" flipH="1">
              <a:off x="3238" y="3680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8" name="Google Shape;2458;p106"/>
            <p:cNvCxnSpPr/>
            <p:nvPr/>
          </p:nvCxnSpPr>
          <p:spPr>
            <a:xfrm rot="5400000" flipH="1">
              <a:off x="3579" y="3430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9" name="Google Shape;2459;p106"/>
            <p:cNvCxnSpPr/>
            <p:nvPr/>
          </p:nvCxnSpPr>
          <p:spPr>
            <a:xfrm rot="5400000" flipH="1">
              <a:off x="3975" y="2978"/>
              <a:ext cx="806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0" name="Google Shape;2460;p106"/>
            <p:cNvCxnSpPr/>
            <p:nvPr/>
          </p:nvCxnSpPr>
          <p:spPr>
            <a:xfrm rot="10800000" flipH="1">
              <a:off x="3064" y="3006"/>
              <a:ext cx="1008" cy="9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61" name="Google Shape;2461;p106"/>
            <p:cNvSpPr/>
            <p:nvPr/>
          </p:nvSpPr>
          <p:spPr>
            <a:xfrm>
              <a:off x="3208" y="3620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8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2" name="Google Shape;2462;p106"/>
            <p:cNvSpPr/>
            <p:nvPr/>
          </p:nvSpPr>
          <p:spPr>
            <a:xfrm>
              <a:off x="2958" y="3870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3" name="Google Shape;2463;p106"/>
            <p:cNvSpPr/>
            <p:nvPr/>
          </p:nvSpPr>
          <p:spPr>
            <a:xfrm>
              <a:off x="3400" y="3870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4" name="Google Shape;2464;p106"/>
            <p:cNvSpPr/>
            <p:nvPr/>
          </p:nvSpPr>
          <p:spPr>
            <a:xfrm>
              <a:off x="3496" y="334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15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5" name="Google Shape;2465;p106"/>
            <p:cNvSpPr/>
            <p:nvPr/>
          </p:nvSpPr>
          <p:spPr>
            <a:xfrm>
              <a:off x="3784" y="3620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14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6" name="Google Shape;2466;p106"/>
            <p:cNvSpPr/>
            <p:nvPr/>
          </p:nvSpPr>
          <p:spPr>
            <a:xfrm>
              <a:off x="3640" y="3870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7" name="Google Shape;2467;p106"/>
            <p:cNvSpPr/>
            <p:nvPr/>
          </p:nvSpPr>
          <p:spPr>
            <a:xfrm>
              <a:off x="3952" y="2910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16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8" name="Google Shape;2468;p106"/>
            <p:cNvSpPr/>
            <p:nvPr/>
          </p:nvSpPr>
          <p:spPr>
            <a:xfrm>
              <a:off x="4358" y="3342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10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9" name="Google Shape;2469;p106"/>
            <p:cNvSpPr/>
            <p:nvPr/>
          </p:nvSpPr>
          <p:spPr>
            <a:xfrm>
              <a:off x="4034" y="3620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9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0" name="Google Shape;2470;p106"/>
            <p:cNvSpPr/>
            <p:nvPr/>
          </p:nvSpPr>
          <p:spPr>
            <a:xfrm>
              <a:off x="4610" y="3620"/>
              <a:ext cx="202" cy="202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1" name="Google Shape;2471;p106"/>
            <p:cNvSpPr txBox="1"/>
            <p:nvPr/>
          </p:nvSpPr>
          <p:spPr>
            <a:xfrm>
              <a:off x="3013" y="2466"/>
              <a:ext cx="1988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The restored heap containing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the newly added element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p107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478" name="Google Shape;2478;p107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MAX-HEAP-INSERT</a:t>
            </a:r>
            <a:endParaRPr lang="en-US"/>
          </a:p>
        </p:txBody>
      </p:sp>
      <p:sp>
        <p:nvSpPr>
          <p:cNvPr id="2479" name="Google Shape;2479;p107"/>
          <p:cNvSpPr txBox="1"/>
          <p:nvPr>
            <p:ph type="body" idx="1"/>
          </p:nvPr>
        </p:nvSpPr>
        <p:spPr>
          <a:xfrm>
            <a:off x="350838" y="17526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0111"/>
              </a:buClr>
              <a:buSzPts val="3200"/>
              <a:buFont typeface="Corsiva" panose="03010101010201010101"/>
              <a:buNone/>
            </a:pPr>
            <a:r>
              <a:rPr lang="en-US" sz="3200">
                <a:solidFill>
                  <a:srgbClr val="DD0111"/>
                </a:solidFill>
                <a:latin typeface="Corsiva" panose="03010101010201010101"/>
                <a:ea typeface="Corsiva" panose="03010101010201010101"/>
                <a:cs typeface="Corsiva" panose="03010101010201010101"/>
                <a:sym typeface="Corsiva" panose="03010101010201010101"/>
              </a:rPr>
              <a:t>Alg:</a:t>
            </a:r>
            <a:r>
              <a:rPr lang="en-US" sz="3200"/>
              <a:t> MAX-HEAP-INSERT</a:t>
            </a:r>
            <a:r>
              <a:rPr lang="en-US" sz="3200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(A, key, n)</a:t>
            </a:r>
            <a:endParaRPr sz="2400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AutoNum type="arabicPeriod"/>
            </a:pPr>
            <a:r>
              <a:rPr lang="en-US"/>
              <a:t>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heap-size[A]</a:t>
            </a:r>
            <a:r>
              <a:rPr lang="en-US"/>
              <a:t> ←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n + 1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533400" lvl="0" indent="-5334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AutoNum type="arabicPeriod"/>
            </a:pPr>
            <a:r>
              <a:rPr lang="en-US"/>
              <a:t> 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A[n + 1] ← -∞</a:t>
            </a:r>
            <a:r>
              <a:rPr lang="en-US"/>
              <a:t> </a:t>
            </a:r>
            <a:endParaRPr lang="en-US"/>
          </a:p>
          <a:p>
            <a:pPr marL="533400" lvl="0" indent="-5334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AutoNum type="arabicPeriod"/>
            </a:pPr>
            <a:r>
              <a:rPr lang="en-US"/>
              <a:t> HEAP-INCREASE-KEY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(A, n + 1, key)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2480" name="Google Shape;2480;p107"/>
          <p:cNvSpPr txBox="1"/>
          <p:nvPr/>
        </p:nvSpPr>
        <p:spPr>
          <a:xfrm>
            <a:off x="2362200" y="5334000"/>
            <a:ext cx="3657600" cy="4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Running time:</a:t>
            </a:r>
            <a:r>
              <a:rPr lang="en-US" sz="2400" i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>
                <a:solidFill>
                  <a:srgbClr val="00000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O(lgn)</a:t>
            </a:r>
            <a:endParaRPr lang="en-US" sz="2400">
              <a:solidFill>
                <a:srgbClr val="00000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grpSp>
        <p:nvGrpSpPr>
          <p:cNvPr id="2481" name="Google Shape;2481;p107"/>
          <p:cNvGrpSpPr/>
          <p:nvPr/>
        </p:nvGrpSpPr>
        <p:grpSpPr>
          <a:xfrm>
            <a:off x="7315993" y="3023394"/>
            <a:ext cx="565944" cy="634206"/>
            <a:chOff x="4512" y="2352"/>
            <a:chExt cx="356" cy="399"/>
          </a:xfrm>
        </p:grpSpPr>
        <p:cxnSp>
          <p:nvCxnSpPr>
            <p:cNvPr id="2482" name="Google Shape;2482;p107"/>
            <p:cNvCxnSpPr/>
            <p:nvPr/>
          </p:nvCxnSpPr>
          <p:spPr>
            <a:xfrm rot="5400000" flipH="1">
              <a:off x="4505" y="2359"/>
              <a:ext cx="322" cy="30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83" name="Google Shape;2483;p107"/>
            <p:cNvSpPr/>
            <p:nvPr/>
          </p:nvSpPr>
          <p:spPr>
            <a:xfrm>
              <a:off x="4667" y="2549"/>
              <a:ext cx="202" cy="202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-∞</a:t>
              </a:r>
              <a:endPara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cxnSp>
        <p:nvCxnSpPr>
          <p:cNvPr id="2484" name="Google Shape;2484;p107"/>
          <p:cNvCxnSpPr/>
          <p:nvPr/>
        </p:nvCxnSpPr>
        <p:spPr>
          <a:xfrm rot="10800000" flipH="1">
            <a:off x="7077075" y="3094038"/>
            <a:ext cx="411163" cy="3921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5" name="Google Shape;2485;p107"/>
          <p:cNvCxnSpPr/>
          <p:nvPr/>
        </p:nvCxnSpPr>
        <p:spPr>
          <a:xfrm rot="10800000" flipH="1">
            <a:off x="7818438" y="2638425"/>
            <a:ext cx="511175" cy="4873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6" name="Google Shape;2486;p107"/>
          <p:cNvCxnSpPr/>
          <p:nvPr/>
        </p:nvCxnSpPr>
        <p:spPr>
          <a:xfrm rot="5400000" flipH="1">
            <a:off x="6387306" y="3028157"/>
            <a:ext cx="511175" cy="4873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7" name="Google Shape;2487;p107"/>
          <p:cNvCxnSpPr/>
          <p:nvPr/>
        </p:nvCxnSpPr>
        <p:spPr>
          <a:xfrm rot="5400000" flipH="1">
            <a:off x="6928644" y="2631281"/>
            <a:ext cx="511175" cy="4873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8" name="Google Shape;2488;p107"/>
          <p:cNvCxnSpPr/>
          <p:nvPr/>
        </p:nvCxnSpPr>
        <p:spPr>
          <a:xfrm rot="5400000" flipH="1">
            <a:off x="7558087" y="1912938"/>
            <a:ext cx="1279525" cy="121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9" name="Google Shape;2489;p107"/>
          <p:cNvCxnSpPr/>
          <p:nvPr/>
        </p:nvCxnSpPr>
        <p:spPr>
          <a:xfrm rot="10800000" flipH="1">
            <a:off x="6111875" y="1957388"/>
            <a:ext cx="1600200" cy="15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0" name="Google Shape;2490;p107"/>
          <p:cNvSpPr/>
          <p:nvPr/>
        </p:nvSpPr>
        <p:spPr>
          <a:xfrm>
            <a:off x="6340475" y="2932113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1" name="Google Shape;2491;p107"/>
          <p:cNvSpPr/>
          <p:nvPr/>
        </p:nvSpPr>
        <p:spPr>
          <a:xfrm>
            <a:off x="5943600" y="33289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2" name="Google Shape;2492;p107"/>
          <p:cNvSpPr/>
          <p:nvPr/>
        </p:nvSpPr>
        <p:spPr>
          <a:xfrm>
            <a:off x="6645275" y="33289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3" name="Google Shape;2493;p107"/>
          <p:cNvSpPr/>
          <p:nvPr/>
        </p:nvSpPr>
        <p:spPr>
          <a:xfrm>
            <a:off x="6797675" y="24907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4" name="Google Shape;2494;p107"/>
          <p:cNvSpPr/>
          <p:nvPr/>
        </p:nvSpPr>
        <p:spPr>
          <a:xfrm>
            <a:off x="7254875" y="2932113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5" name="Google Shape;2495;p107"/>
          <p:cNvSpPr/>
          <p:nvPr/>
        </p:nvSpPr>
        <p:spPr>
          <a:xfrm>
            <a:off x="7026275" y="33289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6" name="Google Shape;2496;p107"/>
          <p:cNvSpPr/>
          <p:nvPr/>
        </p:nvSpPr>
        <p:spPr>
          <a:xfrm>
            <a:off x="7521575" y="18049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7" name="Google Shape;2497;p107"/>
          <p:cNvSpPr/>
          <p:nvPr/>
        </p:nvSpPr>
        <p:spPr>
          <a:xfrm>
            <a:off x="8166100" y="2490788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8" name="Google Shape;2498;p107"/>
          <p:cNvSpPr/>
          <p:nvPr/>
        </p:nvSpPr>
        <p:spPr>
          <a:xfrm>
            <a:off x="7651750" y="2932113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99" name="Google Shape;2499;p107"/>
          <p:cNvSpPr/>
          <p:nvPr/>
        </p:nvSpPr>
        <p:spPr>
          <a:xfrm>
            <a:off x="8566150" y="2932113"/>
            <a:ext cx="320675" cy="3206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8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108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506" name="Google Shape;2506;p108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 lang="en-US"/>
          </a:p>
        </p:txBody>
      </p:sp>
      <p:sp>
        <p:nvSpPr>
          <p:cNvPr id="2507" name="Google Shape;2507;p108"/>
          <p:cNvSpPr txBox="1"/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US"/>
              <a:t>We can perform the following operations on heaps:</a:t>
            </a:r>
            <a:endParaRPr lang="en-US"/>
          </a:p>
          <a:p>
            <a:pPr marL="742950" lvl="1" indent="-28575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MAX-HEAPIFY			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O(lgn)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742950" lvl="1" indent="-28575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BUILD-MAX-HEAP			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O(n)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742950" lvl="1" indent="-28575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HEAP-SORT				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O(nlgn)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742950" lvl="1" indent="-28575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MAX-HEAP-INSERT			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O(lgn)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742950" lvl="1" indent="-28575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HEAP-EXTRACT-MAX		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O(lgn)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742950" lvl="1" indent="-28575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HEAP-INCREASE-KEY		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O(lgn)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742950" lvl="1" indent="-28575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</a:pPr>
            <a:r>
              <a:rPr lang="en-US"/>
              <a:t>HEAP-MAXIMUM			</a:t>
            </a: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O(1)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109"/>
          <p:cNvSpPr txBox="1"/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514" name="Google Shape;2514;p109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of Priority Queue</a:t>
            </a:r>
            <a:endParaRPr lang="en-US"/>
          </a:p>
        </p:txBody>
      </p:sp>
      <p:sp>
        <p:nvSpPr>
          <p:cNvPr id="2515" name="Google Shape;2515;p109"/>
          <p:cNvSpPr txBox="1"/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None/>
            </a:pPr>
            <a:r>
              <a:rPr lang="en-US" b="1"/>
              <a:t>Graph algorithms:</a:t>
            </a:r>
            <a:endParaRPr lang="en-US" b="1"/>
          </a:p>
          <a:p>
            <a:pPr marL="342900" lvl="0" indent="-342900" algn="l" rtl="0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US"/>
              <a:t>Dijkstra’s and A*-search algorithms to compute shortest paths</a:t>
            </a:r>
            <a:endParaRPr lang="en-US"/>
          </a:p>
          <a:p>
            <a:pPr marL="342900" lvl="0" indent="-342900" algn="l" rtl="0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 panose="030F0702030302020204"/>
              <a:buChar char="•"/>
            </a:pP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Prim’s algorithm to compute minimum spanning tree (MST) of a graph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 panose="030F0702030302020204"/>
              <a:buNone/>
            </a:pPr>
            <a:r>
              <a:rPr lang="en-US" b="1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Others:</a:t>
            </a:r>
            <a:endParaRPr lang="en-US" b="1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 panose="030F0702030302020204"/>
              <a:buChar char="•"/>
            </a:pP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Huffman coding for compressing data</a:t>
            </a:r>
            <a:endParaRPr lang="en-US"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 panose="030F0702030302020204"/>
              <a:buChar char="•"/>
            </a:pPr>
            <a:r>
              <a:rPr lang="en-US"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Resource scheduling in operating systems</a:t>
            </a:r>
            <a:endParaRPr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19173</Words>
  <Application>WPS Presentation</Application>
  <PresentationFormat/>
  <Paragraphs>4628</Paragraphs>
  <Slides>80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80</vt:i4>
      </vt:variant>
    </vt:vector>
  </HeadingPairs>
  <TitlesOfParts>
    <vt:vector size="97" baseType="lpstr">
      <vt:lpstr>Arial</vt:lpstr>
      <vt:lpstr>SimSun</vt:lpstr>
      <vt:lpstr>Wingdings</vt:lpstr>
      <vt:lpstr>Arial</vt:lpstr>
      <vt:lpstr>Calibri</vt:lpstr>
      <vt:lpstr>Impact</vt:lpstr>
      <vt:lpstr>Federo</vt:lpstr>
      <vt:lpstr>Segoe Print</vt:lpstr>
      <vt:lpstr>Courier New</vt:lpstr>
      <vt:lpstr>Microsoft YaHei</vt:lpstr>
      <vt:lpstr>Arial Unicode MS</vt:lpstr>
      <vt:lpstr>Noto Sans Symbols</vt:lpstr>
      <vt:lpstr>Times New Roman</vt:lpstr>
      <vt:lpstr>Comic Sans MS</vt:lpstr>
      <vt:lpstr>Corsiva</vt:lpstr>
      <vt:lpstr>Office Theme</vt:lpstr>
      <vt:lpstr>Default Design</vt:lpstr>
      <vt:lpstr>Lecture 04 Heap+Heapsort</vt:lpstr>
      <vt:lpstr>Sorting Revisited</vt:lpstr>
      <vt:lpstr>Heaps</vt:lpstr>
      <vt:lpstr>Heaps</vt:lpstr>
      <vt:lpstr>Heaps</vt:lpstr>
      <vt:lpstr>Heaps</vt:lpstr>
      <vt:lpstr>Heaps (Implementation Issue)</vt:lpstr>
      <vt:lpstr>Heaps (Implementation Issue)</vt:lpstr>
      <vt:lpstr>Heaps (Implementation Issue)</vt:lpstr>
      <vt:lpstr>Heap Operations: Heapify()</vt:lpstr>
      <vt:lpstr>Illustration of Heapify operation</vt:lpstr>
      <vt:lpstr>The Heapify operation</vt:lpstr>
      <vt:lpstr>The Heapify operation</vt:lpstr>
      <vt:lpstr>The Heapify operation</vt:lpstr>
      <vt:lpstr>The Heapify operation</vt:lpstr>
      <vt:lpstr>The Heapify operation</vt:lpstr>
      <vt:lpstr>The Heapify operation</vt:lpstr>
      <vt:lpstr>The Heapify operation</vt:lpstr>
      <vt:lpstr>Procedure MaxHeapify</vt:lpstr>
      <vt:lpstr>Procedure MaxHeapify</vt:lpstr>
      <vt:lpstr>Running Time for MaxHeapify(A, i)</vt:lpstr>
      <vt:lpstr>Converting an array to a Max-Heap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Time complexity of Building a Heap</vt:lpstr>
      <vt:lpstr>Time complexity of Building a Heap</vt:lpstr>
      <vt:lpstr>Time complexity of Building a Heap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Priority Queues (PQ)</vt:lpstr>
      <vt:lpstr>Implementation of Priority Queue</vt:lpstr>
      <vt:lpstr>Implementation of Priority Queue</vt:lpstr>
      <vt:lpstr>Operations  on Priority Queues</vt:lpstr>
      <vt:lpstr>HEAP-MAXIMUM</vt:lpstr>
      <vt:lpstr>HEAP-EXTRACT-MAX</vt:lpstr>
      <vt:lpstr>Example: HEAP-EXTRACT-MAX</vt:lpstr>
      <vt:lpstr>HEAP-EXTRACT-MAX</vt:lpstr>
      <vt:lpstr>HEAP-INCREASE-KEY</vt:lpstr>
      <vt:lpstr>Example: HEAP-INCREASE-KEY</vt:lpstr>
      <vt:lpstr>HEAP-INCREASE-KEY</vt:lpstr>
      <vt:lpstr>MAX-HEAP-INSERT</vt:lpstr>
      <vt:lpstr>Example: MAX-HEAP-INSERT</vt:lpstr>
      <vt:lpstr>MAX-HEAP-INSERT</vt:lpstr>
      <vt:lpstr>Summary</vt:lpstr>
      <vt:lpstr>Applications of Priority Queue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 Heap+Heapsort</dc:title>
  <dc:creator/>
  <cp:lastModifiedBy>Lenovo</cp:lastModifiedBy>
  <cp:revision>1</cp:revision>
  <dcterms:created xsi:type="dcterms:W3CDTF">2025-11-14T04:51:52Z</dcterms:created>
  <dcterms:modified xsi:type="dcterms:W3CDTF">2025-11-14T04:51:55Z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9DEB281B67334BE2B448676A528D732D_12</vt:lpwstr>
  </property>
  <property fmtid="{D5CDD505-2E9C-101B-9397-08002B2CF9AE}" pid="3" name="KSOProductBuildVer">
    <vt:lpwstr>1033-12.2.0.23155</vt:lpwstr>
  </property>
</Properties>
</file>